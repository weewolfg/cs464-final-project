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65" r:id="rId16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e15c40e7fb_2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e15c40e7fb_2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e15c40e7fb_2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15c40e7fb_2_4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e15c40e7fb_2_4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g3e15c40e7fb_2_4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15c40e7fb_2_8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e15c40e7fb_2_8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e15c40e7fb_2_8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15c40e7fb_2_13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3e15c40e7fb_2_13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e15c40e7fb_2_13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15c40e7fb_2_19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g3e15c40e7fb_2_19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g3e15c40e7fb_2_19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e15c40e7fb_2_2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g3e15c40e7fb_2_21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15c40e7fb_2_21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15c40e7fb_6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e15c40e7fb_6_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e15c40e7fb_6_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15c40e7fb_6_4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g3e15c40e7fb_6_4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e15c40e7fb_6_4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e15c40e7fb_2_26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9" name="Google Shape;309;g3e15c40e7fb_2_26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e15c40e7fb_2_26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6B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502920" y="5943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300"/>
              <a:buFont typeface="Calibri"/>
              <a:buNone/>
            </a:pPr>
            <a:r>
              <a:rPr b="0" i="1" lang="en" sz="1300" u="none" cap="none" strike="noStrike">
                <a:solidFill>
                  <a:srgbClr val="D6E4F0"/>
                </a:solidFill>
                <a:latin typeface="Calibri"/>
                <a:ea typeface="Calibri"/>
                <a:cs typeface="Calibri"/>
                <a:sym typeface="Calibri"/>
              </a:rPr>
              <a:t>AI for Redistricting — Spring 2026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502920" y="1005840"/>
            <a:ext cx="82296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Gerrymandering Analysis of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Massachusetts Congressional Districts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502920" y="2971800"/>
            <a:ext cx="4114800" cy="27432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5"/>
          <p:cNvSpPr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6E4F0"/>
                </a:solidFill>
                <a:latin typeface="Calibri"/>
                <a:ea typeface="Calibri"/>
                <a:cs typeface="Calibri"/>
                <a:sym typeface="Calibri"/>
              </a:rPr>
              <a:t>2024 Presidential &amp; Senate Elections  |  ReCom Ensemble Analysis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50292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AECF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8FAECF"/>
                </a:solidFill>
                <a:latin typeface="Calibri"/>
                <a:ea typeface="Calibri"/>
                <a:cs typeface="Calibri"/>
                <a:sym typeface="Calibri"/>
              </a:rPr>
              <a:t>University of San Francisco  •  CS 46</a:t>
            </a:r>
            <a:r>
              <a:rPr i="1" lang="en" sz="1100">
                <a:solidFill>
                  <a:srgbClr val="8FAEC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6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sz="2400" b="1" i="0">
                <a:solidFill>
                  <a:srgbClr val="FFFFFF"/>
                </a:solidFill>
                <a:latin typeface="Cambria"/>
              </a:rPr>
              <a:t>Massachusetts Population Context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36576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6"/>
          <p:cNvSpPr/>
          <p:nvPr/>
        </p:nvSpPr>
        <p:spPr>
          <a:xfrm>
            <a:off x="365760" y="822960"/>
            <a:ext cx="54864" cy="86868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/>
          <p:nvPr/>
        </p:nvSpPr>
        <p:spPr>
          <a:xfrm>
            <a:off x="53035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1B3A6B"/>
                </a:solidFill>
                <a:latin typeface="Calibri"/>
              </a:rPr>
              <a:t>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53035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Congressional Districts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251460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2514600" y="822960"/>
            <a:ext cx="54864" cy="868680"/>
          </a:xfrm>
          <a:prstGeom prst="rect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267919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6E6E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0D6E6E"/>
                </a:solidFill>
                <a:latin typeface="Calibri"/>
              </a:rPr>
              <a:t>7.03M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267919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Total Population (2020)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66344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4663440" y="822960"/>
            <a:ext cx="54864" cy="86868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482803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2234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B22234"/>
                </a:solidFill>
                <a:latin typeface="Calibri"/>
              </a:rPr>
              <a:t>100%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482803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Dem-held seats (current)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681228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6812280" y="822960"/>
            <a:ext cx="54864" cy="868680"/>
          </a:xfrm>
          <a:prstGeom prst="rect">
            <a:avLst/>
          </a:prstGeom>
          <a:solidFill>
            <a:srgbClr val="5C3D8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697687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3D8F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5C3D8F"/>
                </a:solidFill>
                <a:latin typeface="Calibri"/>
              </a:rPr>
              <a:t>D+25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697687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2024 Pres partisan lean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365760" y="187452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365760" y="187452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475488" y="187452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Partisan Landscape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475488" y="222199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69" b="0" i="0">
                <a:solidFill>
                  <a:srgbClr val="1A1A2E"/>
                </a:solidFill>
                <a:latin typeface="Calibri"/>
              </a:rPr>
              <a:t>Democrats hold all 9 congressional seats. Harris won Massachusetts by about 25 points in 2024 (61.2% to 36.0%), so the baseline electorate is already strongly Democratic.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4800600" y="187452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4800600" y="187452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4910328" y="187452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Racial Landscape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4910328" y="222199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69" b="0" i="0">
                <a:solidFill>
                  <a:srgbClr val="1A1A2E"/>
                </a:solidFill>
                <a:latin typeface="Calibri"/>
              </a:rPr>
              <a:t>Massachusetts is majority white (~71%), with minority populations concentrated in Boston and nearby cities, anchoring District 7 as a majority-minority district.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365760" y="329184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365760" y="329184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475488" y="329184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District Geography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475488" y="363931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50" b="0" i="0">
                <a:solidFill>
                  <a:srgbClr val="1A1A2E"/>
                </a:solidFill>
                <a:latin typeface="Calibri"/>
              </a:rPr>
              <a:t>The districts cover very different regions: D1 western MA, D2 central/west, D6 North Shore, D7 Boston/Cambridge/Somerville, D8 Boston/South Shore, and D9 South Coast/Cape/Islands.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800600" y="329184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4800600" y="329184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4910328" y="329184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Population Pattern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4910328" y="363931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50" b="0" i="0">
                <a:solidFill>
                  <a:srgbClr val="1A1A2E"/>
                </a:solidFill>
                <a:latin typeface="Calibri"/>
              </a:rPr>
              <a:t>Because Democratic voters are geographically dense around Boston and other urban areas, many random plans still elect Democrats; the key question is how much the actual map packs those voters.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20040" y="490118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>
                <a:solidFill>
                  <a:srgbClr val="5A6473"/>
                </a:solidFill>
              </a:rPr>
              <a:t>Sources: MA Election Statistics, U.S. Census / 2020 data, project precinct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Data &amp; Methods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365750" y="1188727"/>
            <a:ext cx="4023300" cy="3163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365760" y="1188735"/>
            <a:ext cx="4023300" cy="3474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502920" y="1188735"/>
            <a:ext cx="38406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Sources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502920" y="1664223"/>
            <a:ext cx="255900" cy="2559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502920" y="1664223"/>
            <a:ext cx="255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841248" y="1664223"/>
            <a:ext cx="338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2020 Census Blocks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841248" y="1938543"/>
            <a:ext cx="338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107,278 census blocks with total population (P0010001). Used to aggregate population to precinct level.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502920" y="2505471"/>
            <a:ext cx="255900" cy="2559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7"/>
          <p:cNvSpPr/>
          <p:nvPr/>
        </p:nvSpPr>
        <p:spPr>
          <a:xfrm>
            <a:off x="502920" y="2505471"/>
            <a:ext cx="255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841248" y="2505471"/>
            <a:ext cx="338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MA County Shapefile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841248" y="2779791"/>
            <a:ext cx="338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14 counties. Used to nest precincts within counties during MAUP repair.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502920" y="3346719"/>
            <a:ext cx="255900" cy="2559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502920" y="3346719"/>
            <a:ext cx="255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841248" y="3346719"/>
            <a:ext cx="338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2024 General Election Precincts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841248" y="3621039"/>
            <a:ext cx="338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2,383 precincts with vote totals for Presidential (Harris/Trump) and Senate races.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4663440" y="822960"/>
            <a:ext cx="4114800" cy="3977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4663440" y="822960"/>
            <a:ext cx="4114800" cy="347472"/>
          </a:xfrm>
          <a:prstGeom prst="rect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4800600" y="822960"/>
            <a:ext cx="3931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MAUP Data Cleaning Pipeline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" name="Google Shape;127;p17"/>
          <p:cNvCxnSpPr/>
          <p:nvPr/>
        </p:nvCxnSpPr>
        <p:spPr>
          <a:xfrm>
            <a:off x="5029200" y="1572768"/>
            <a:ext cx="0" cy="384048"/>
          </a:xfrm>
          <a:prstGeom prst="straightConnector1">
            <a:avLst/>
          </a:prstGeom>
          <a:noFill/>
          <a:ln cap="flat" cmpd="sng" w="19050">
            <a:solidFill>
              <a:srgbClr val="E2E8F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28" name="Google Shape;128;p17"/>
          <p:cNvSpPr/>
          <p:nvPr/>
        </p:nvSpPr>
        <p:spPr>
          <a:xfrm>
            <a:off x="4864608" y="1316736"/>
            <a:ext cx="237744" cy="237744"/>
          </a:xfrm>
          <a:prstGeom prst="ellipse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7"/>
          <p:cNvSpPr/>
          <p:nvPr/>
        </p:nvSpPr>
        <p:spPr>
          <a:xfrm>
            <a:off x="4864608" y="131673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212080" y="1298448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Reproject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5212080" y="1554480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Aligned all three shapefiles</a:t>
            </a:r>
            <a:r>
              <a:rPr lang="en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for accurate spatial operations.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p17"/>
          <p:cNvCxnSpPr/>
          <p:nvPr/>
        </p:nvCxnSpPr>
        <p:spPr>
          <a:xfrm>
            <a:off x="5029200" y="2240280"/>
            <a:ext cx="0" cy="384048"/>
          </a:xfrm>
          <a:prstGeom prst="straightConnector1">
            <a:avLst/>
          </a:prstGeom>
          <a:noFill/>
          <a:ln cap="flat" cmpd="sng" w="19050">
            <a:solidFill>
              <a:srgbClr val="E2E8F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33" name="Google Shape;133;p17"/>
          <p:cNvSpPr/>
          <p:nvPr/>
        </p:nvSpPr>
        <p:spPr>
          <a:xfrm>
            <a:off x="4864608" y="1984248"/>
            <a:ext cx="237744" cy="237744"/>
          </a:xfrm>
          <a:prstGeom prst="ellipse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4864608" y="198424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5212080" y="1965960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smart_repair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212080" y="2221992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Fixed 519 overlaps, 77 holes, and invalid geometries in election precincts, nesting within county boundaries.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5029200" y="2907792"/>
            <a:ext cx="0" cy="384048"/>
          </a:xfrm>
          <a:prstGeom prst="straightConnector1">
            <a:avLst/>
          </a:prstGeom>
          <a:noFill/>
          <a:ln cap="flat" cmpd="sng" w="19050">
            <a:solidFill>
              <a:srgbClr val="E2E8F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38" name="Google Shape;138;p17"/>
          <p:cNvSpPr/>
          <p:nvPr/>
        </p:nvSpPr>
        <p:spPr>
          <a:xfrm>
            <a:off x="4864608" y="2651760"/>
            <a:ext cx="237744" cy="237744"/>
          </a:xfrm>
          <a:prstGeom prst="ellipse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4864608" y="265176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212080" y="2633472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Rook → Queen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5212080" y="2889504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Converted adjacencies &lt; 30m to point adjacencies so GerryChain treats them as proper neighbors.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17"/>
          <p:cNvCxnSpPr/>
          <p:nvPr/>
        </p:nvCxnSpPr>
        <p:spPr>
          <a:xfrm>
            <a:off x="5029200" y="3575304"/>
            <a:ext cx="0" cy="384048"/>
          </a:xfrm>
          <a:prstGeom prst="straightConnector1">
            <a:avLst/>
          </a:prstGeom>
          <a:noFill/>
          <a:ln cap="flat" cmpd="sng" w="19050">
            <a:solidFill>
              <a:srgbClr val="E2E8F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43" name="Google Shape;143;p17"/>
          <p:cNvSpPr/>
          <p:nvPr/>
        </p:nvSpPr>
        <p:spPr>
          <a:xfrm>
            <a:off x="4864608" y="3319272"/>
            <a:ext cx="237744" cy="237744"/>
          </a:xfrm>
          <a:prstGeom prst="ellipse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4864608" y="331927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5212080" y="3300984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Assign Population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212080" y="3557016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Used maup.assign() to map 107k census blocks → 2,383 precincts and sum population.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864608" y="3986784"/>
            <a:ext cx="237744" cy="237744"/>
          </a:xfrm>
          <a:prstGeom prst="ellipse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4864608" y="398678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212080" y="3968496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212080" y="4224528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maup.doctor() returns True. Block total = Precinct total = 7,029,917.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Ensemble Method: ReCom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65751" y="1145863"/>
            <a:ext cx="4335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How ReCom Works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365760" y="1557340"/>
            <a:ext cx="320100" cy="3201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365760" y="1557340"/>
            <a:ext cx="32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777240" y="1584772"/>
            <a:ext cx="4206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Pick two adjacent districts at random.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365760" y="2197420"/>
            <a:ext cx="320100" cy="3201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365760" y="2197420"/>
            <a:ext cx="32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777240" y="2224852"/>
            <a:ext cx="4206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 them into one region.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365760" y="2837500"/>
            <a:ext cx="320100" cy="3201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365760" y="2837500"/>
            <a:ext cx="32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777240" y="2864932"/>
            <a:ext cx="4206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a random spanning tree of the merged region.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365760" y="3477580"/>
            <a:ext cx="320100" cy="3201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365760" y="3477580"/>
            <a:ext cx="32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777240" y="3505012"/>
            <a:ext cx="4206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Cut one edge of the spanning tree to create two new valid districts satisfying population constraints.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365760" y="4117660"/>
            <a:ext cx="320100" cy="3201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365760" y="4117660"/>
            <a:ext cx="32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777240" y="4145092"/>
            <a:ext cx="4206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Repeat 2,000 times to generate the ensemble.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5180443" y="1813397"/>
            <a:ext cx="3566100" cy="3474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5317602" y="1813397"/>
            <a:ext cx="33834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Parameter Choices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5180405" y="2188235"/>
            <a:ext cx="3566100" cy="3933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317565" y="2188235"/>
            <a:ext cx="2011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Steps per chain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7374965" y="2188235"/>
            <a:ext cx="12801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20000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5180405" y="2608859"/>
            <a:ext cx="3566100" cy="3933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5317565" y="2608859"/>
            <a:ext cx="2011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Number of chains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7374965" y="2608859"/>
            <a:ext cx="12801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 (Pres + Senate)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5180405" y="3029483"/>
            <a:ext cx="3566100" cy="3933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317565" y="3029483"/>
            <a:ext cx="2011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Population tolerance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7374965" y="3029483"/>
            <a:ext cx="12801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±2%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5180405" y="3450107"/>
            <a:ext cx="3566100" cy="3933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5317565" y="3450107"/>
            <a:ext cx="2011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Node repeats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7374965" y="3450107"/>
            <a:ext cx="12801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5180405" y="3870731"/>
            <a:ext cx="3566100" cy="3933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5317565" y="3870731"/>
            <a:ext cx="2011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Compactness bound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7374965" y="3870731"/>
            <a:ext cx="12801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≤ 2× initial cut edges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9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Actual Massachusetts Map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492240" y="804672"/>
            <a:ext cx="228600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9"/>
          <p:cNvSpPr/>
          <p:nvPr/>
        </p:nvSpPr>
        <p:spPr>
          <a:xfrm>
            <a:off x="6492240" y="804672"/>
            <a:ext cx="54864" cy="86868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6656832" y="914400"/>
            <a:ext cx="205740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9 districts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6656832" y="1282446"/>
            <a:ext cx="2057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Democrat-held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6492240" y="1828800"/>
            <a:ext cx="228600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9"/>
          <p:cNvSpPr/>
          <p:nvPr/>
        </p:nvSpPr>
        <p:spPr>
          <a:xfrm>
            <a:off x="6492240" y="1828800"/>
            <a:ext cx="54864" cy="868680"/>
          </a:xfrm>
          <a:prstGeom prst="rect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6656832" y="1938528"/>
            <a:ext cx="205740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6E6E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0D6E6E"/>
                </a:solidFill>
                <a:latin typeface="Calibri"/>
                <a:ea typeface="Calibri"/>
                <a:cs typeface="Calibri"/>
                <a:sym typeface="Calibri"/>
              </a:rPr>
              <a:t>659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6656832" y="2306574"/>
            <a:ext cx="2057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Cut edges in actual map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6492240" y="2852928"/>
            <a:ext cx="228600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9"/>
          <p:cNvSpPr/>
          <p:nvPr/>
        </p:nvSpPr>
        <p:spPr>
          <a:xfrm>
            <a:off x="6492240" y="2852928"/>
            <a:ext cx="54864" cy="86868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9"/>
          <p:cNvSpPr/>
          <p:nvPr/>
        </p:nvSpPr>
        <p:spPr>
          <a:xfrm>
            <a:off x="6656832" y="2962656"/>
            <a:ext cx="205740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2234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B22234"/>
                </a:solidFill>
                <a:latin typeface="Calibri"/>
                <a:ea typeface="Calibri"/>
                <a:cs typeface="Calibri"/>
                <a:sym typeface="Calibri"/>
              </a:rPr>
              <a:t>-0.24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6656832" y="3330702"/>
            <a:ext cx="2057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Efficiency Gap (Pres)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6492240" y="3877056"/>
            <a:ext cx="228600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9"/>
          <p:cNvSpPr/>
          <p:nvPr/>
        </p:nvSpPr>
        <p:spPr>
          <a:xfrm>
            <a:off x="6492240" y="3877056"/>
            <a:ext cx="54864" cy="86868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6656832" y="3986784"/>
            <a:ext cx="205740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2234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B22234"/>
                </a:solidFill>
                <a:latin typeface="Calibri"/>
                <a:ea typeface="Calibri"/>
                <a:cs typeface="Calibri"/>
                <a:sym typeface="Calibri"/>
              </a:rPr>
              <a:t>-0.30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6656832" y="4354830"/>
            <a:ext cx="2057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Efficiency Gap (Senate)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750" y="1138650"/>
            <a:ext cx="5394726" cy="3607075"/>
          </a:xfrm>
          <a:prstGeom prst="rect">
            <a:avLst/>
          </a:prstGeom>
          <a:noFill/>
          <a:ln cap="flat" cmpd="sng" w="19050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sz="2400" b="1" i="0">
                <a:solidFill>
                  <a:srgbClr val="FFFFFF"/>
                </a:solidFill>
                <a:latin typeface="Cambria"/>
              </a:rPr>
              <a:t>Outlier Analysis: Marginal Box Plots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Calibri"/>
              <a:buNone/>
            </a:pPr>
            <a:r>
              <a:rPr sz="1150" b="0" i="1">
                <a:solidFill>
                  <a:srgbClr val="1A1A2E"/>
                </a:solidFill>
                <a:latin typeface="Calibri"/>
              </a:rPr>
              <a:t>Red dots = actual MA map. Each box shows the simulated range for the 1st through 9th most Democratic district, after sorting each plan by Democratic vote share.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365760" y="4645152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sz="1000" b="1" i="0">
                <a:solidFill>
                  <a:srgbClr val="1B3A6B"/>
                </a:solidFill>
                <a:latin typeface="Calibri"/>
              </a:rPr>
              <a:t>Key finding: The actual map is ordinary in the lower/middle ranks, but high at the Democratic end. The 9th box is the most Democratic district by vote share, not Congressional District 9; from the map, that likely reflects the Boston/Cambridge/Somerville core (D7), while D9 is the South Coast/Cape/Islands seat.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975" y="1222768"/>
            <a:ext cx="7789139" cy="33162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1"/>
          <p:cNvSpPr/>
          <p:nvPr/>
        </p:nvSpPr>
        <p:spPr>
          <a:xfrm>
            <a:off x="365760" y="0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Understanding the Efficiency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365800" y="1314449"/>
            <a:ext cx="4206300" cy="2514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901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1"/>
          <p:cNvSpPr/>
          <p:nvPr/>
        </p:nvSpPr>
        <p:spPr>
          <a:xfrm>
            <a:off x="365750" y="1314450"/>
            <a:ext cx="78900" cy="25146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1"/>
          <p:cNvSpPr/>
          <p:nvPr/>
        </p:nvSpPr>
        <p:spPr>
          <a:xfrm>
            <a:off x="365810" y="1314447"/>
            <a:ext cx="4206300" cy="3474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02970" y="1314447"/>
            <a:ext cx="4023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is the Efficiency Gap?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502970" y="1744215"/>
            <a:ext cx="3886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Measures wasted votes — all losing-party votes are wasted, plus any winning-party votes beyond the 50%+1 threshold needed to win.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502970" y="2475735"/>
            <a:ext cx="3886200" cy="457200"/>
          </a:xfrm>
          <a:prstGeom prst="rect">
            <a:avLst/>
          </a:prstGeom>
          <a:solidFill>
            <a:srgbClr val="D6E4F0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1"/>
          <p:cNvSpPr/>
          <p:nvPr/>
        </p:nvSpPr>
        <p:spPr>
          <a:xfrm>
            <a:off x="502970" y="2475735"/>
            <a:ext cx="3886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EG = (Wasted Dem − Wasted Rep) / Total Votes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502970" y="3051807"/>
            <a:ext cx="3886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2234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B22234"/>
                </a:solidFill>
                <a:latin typeface="Calibri"/>
                <a:ea typeface="Calibri"/>
                <a:cs typeface="Calibri"/>
                <a:sym typeface="Calibri"/>
              </a:rPr>
              <a:t>Negative EG</a:t>
            </a: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→ map favors Democrats</a:t>
            </a:r>
            <a:b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Positive EG</a:t>
            </a: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→ map favors Republicans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4846420" y="1837935"/>
            <a:ext cx="3931800" cy="3474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4983580" y="1837935"/>
            <a:ext cx="3749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EG Results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4846420" y="2221983"/>
            <a:ext cx="3931800" cy="3474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4937860" y="2221983"/>
            <a:ext cx="146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Election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6446620" y="2221983"/>
            <a:ext cx="11886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Ensemble Mean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7681060" y="2221983"/>
            <a:ext cx="1005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Actual Map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4846420" y="2606031"/>
            <a:ext cx="3931800" cy="54870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4937860" y="2606031"/>
            <a:ext cx="146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Pres 2024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6446620" y="2606031"/>
            <a:ext cx="1188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-0.12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7635340" y="2679183"/>
            <a:ext cx="1051500" cy="4023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1"/>
          <p:cNvSpPr/>
          <p:nvPr/>
        </p:nvSpPr>
        <p:spPr>
          <a:xfrm>
            <a:off x="7635340" y="2679183"/>
            <a:ext cx="10515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-0.24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4846420" y="3200391"/>
            <a:ext cx="3931800" cy="5487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1"/>
          <p:cNvSpPr/>
          <p:nvPr/>
        </p:nvSpPr>
        <p:spPr>
          <a:xfrm>
            <a:off x="4937860" y="3200391"/>
            <a:ext cx="146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Senate 2024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6446620" y="3200391"/>
            <a:ext cx="1188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-0.14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7635340" y="3273543"/>
            <a:ext cx="1051500" cy="4023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7635340" y="3273543"/>
            <a:ext cx="10515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-0.30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Compactness: Polsby-Popper Score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365750" y="1056200"/>
            <a:ext cx="3017400" cy="3474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901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2"/>
          <p:cNvSpPr/>
          <p:nvPr/>
        </p:nvSpPr>
        <p:spPr>
          <a:xfrm>
            <a:off x="365760" y="1056197"/>
            <a:ext cx="3017400" cy="347400"/>
          </a:xfrm>
          <a:prstGeom prst="rect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2"/>
          <p:cNvSpPr/>
          <p:nvPr/>
        </p:nvSpPr>
        <p:spPr>
          <a:xfrm>
            <a:off x="502920" y="1056197"/>
            <a:ext cx="28347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Polsby-Popper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502920" y="1513397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6E6E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D6E6E"/>
                </a:solidFill>
                <a:latin typeface="Calibri"/>
                <a:ea typeface="Calibri"/>
                <a:cs typeface="Calibri"/>
                <a:sym typeface="Calibri"/>
              </a:rPr>
              <a:t>PP = 4π × Area / Perimeter²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502925" y="2152024"/>
            <a:ext cx="2743200" cy="21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6E6E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0D6E6E"/>
                </a:solidFill>
                <a:latin typeface="Calibri"/>
                <a:ea typeface="Calibri"/>
                <a:cs typeface="Calibri"/>
                <a:sym typeface="Calibri"/>
              </a:rPr>
              <a:t>Score of 1.0</a:t>
            </a: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= perfect circle (most compact)</a:t>
            </a:r>
            <a:b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1050" u="none" cap="none" strike="noStrike">
                <a:solidFill>
                  <a:srgbClr val="B22234"/>
                </a:solidFill>
                <a:latin typeface="Calibri"/>
                <a:ea typeface="Calibri"/>
                <a:cs typeface="Calibri"/>
                <a:sym typeface="Calibri"/>
              </a:rPr>
              <a:t>Score near 0</a:t>
            </a: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= very irregular or fragmented shape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actual MA map has more cut edges (659) vs ensemble mean (~480), suggesting deliberately fragmented boundaries.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3611880" y="804672"/>
            <a:ext cx="2331720" cy="347472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2"/>
          <p:cNvSpPr/>
          <p:nvPr/>
        </p:nvSpPr>
        <p:spPr>
          <a:xfrm>
            <a:off x="3703320" y="80467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Actual Map PP Scores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3611880" y="1207008"/>
            <a:ext cx="2331720" cy="36576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2"/>
          <p:cNvSpPr/>
          <p:nvPr/>
        </p:nvSpPr>
        <p:spPr>
          <a:xfrm>
            <a:off x="3657600" y="120700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4114800" y="1298448"/>
            <a:ext cx="562667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2"/>
          <p:cNvSpPr/>
          <p:nvPr/>
        </p:nvSpPr>
        <p:spPr>
          <a:xfrm>
            <a:off x="4695755" y="1207008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0.2797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3611880" y="1600200"/>
            <a:ext cx="23317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2"/>
          <p:cNvSpPr/>
          <p:nvPr/>
        </p:nvSpPr>
        <p:spPr>
          <a:xfrm>
            <a:off x="3657600" y="1600200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4114800" y="1691640"/>
            <a:ext cx="426275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2"/>
          <p:cNvSpPr/>
          <p:nvPr/>
        </p:nvSpPr>
        <p:spPr>
          <a:xfrm>
            <a:off x="4559363" y="160020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0.2119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3611880" y="1993392"/>
            <a:ext cx="2331720" cy="36576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2"/>
          <p:cNvSpPr/>
          <p:nvPr/>
        </p:nvSpPr>
        <p:spPr>
          <a:xfrm>
            <a:off x="3657600" y="1993392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4114800" y="2084832"/>
            <a:ext cx="656612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2"/>
          <p:cNvSpPr/>
          <p:nvPr/>
        </p:nvSpPr>
        <p:spPr>
          <a:xfrm>
            <a:off x="4789700" y="1993392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0.3264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3611880" y="2386584"/>
            <a:ext cx="23317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2"/>
          <p:cNvSpPr/>
          <p:nvPr/>
        </p:nvSpPr>
        <p:spPr>
          <a:xfrm>
            <a:off x="3657600" y="2386584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4114800" y="2478024"/>
            <a:ext cx="470934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4604022" y="238658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0.2341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3611880" y="2779776"/>
            <a:ext cx="2331720" cy="36576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3657600" y="2779776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4114800" y="2871216"/>
            <a:ext cx="779727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2"/>
          <p:cNvSpPr/>
          <p:nvPr/>
        </p:nvSpPr>
        <p:spPr>
          <a:xfrm>
            <a:off x="4912815" y="2779776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0.3876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3611880" y="3172968"/>
            <a:ext cx="23317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2"/>
          <p:cNvSpPr/>
          <p:nvPr/>
        </p:nvSpPr>
        <p:spPr>
          <a:xfrm>
            <a:off x="3657600" y="317296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4114800" y="3264408"/>
            <a:ext cx="533900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2"/>
          <p:cNvSpPr/>
          <p:nvPr/>
        </p:nvSpPr>
        <p:spPr>
          <a:xfrm>
            <a:off x="4666988" y="3172968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0.2654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3611880" y="3566160"/>
            <a:ext cx="2331720" cy="36576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3657600" y="3566160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4114800" y="3657600"/>
            <a:ext cx="366729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2"/>
          <p:cNvSpPr/>
          <p:nvPr/>
        </p:nvSpPr>
        <p:spPr>
          <a:xfrm>
            <a:off x="4499817" y="356616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0.1823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3611880" y="3959352"/>
            <a:ext cx="23317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2"/>
          <p:cNvSpPr/>
          <p:nvPr/>
        </p:nvSpPr>
        <p:spPr>
          <a:xfrm>
            <a:off x="3657600" y="3959352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2"/>
          <p:cNvSpPr/>
          <p:nvPr/>
        </p:nvSpPr>
        <p:spPr>
          <a:xfrm>
            <a:off x="4114800" y="4050792"/>
            <a:ext cx="389059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>
            <a:off x="4522147" y="3959352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0.1934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3611880" y="4352544"/>
            <a:ext cx="2331720" cy="365760"/>
          </a:xfrm>
          <a:prstGeom prst="rect">
            <a:avLst/>
          </a:prstGeom>
          <a:solidFill>
            <a:srgbClr val="F4F7F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2"/>
          <p:cNvSpPr/>
          <p:nvPr/>
        </p:nvSpPr>
        <p:spPr>
          <a:xfrm>
            <a:off x="3657600" y="4352544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D09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4114800" y="4443984"/>
            <a:ext cx="505334" cy="201168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2"/>
          <p:cNvSpPr/>
          <p:nvPr/>
        </p:nvSpPr>
        <p:spPr>
          <a:xfrm>
            <a:off x="4638422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b="0" i="0" lang="en" sz="9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0.2512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58975" y="1900522"/>
            <a:ext cx="3017526" cy="178594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6B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3"/>
          <p:cNvSpPr/>
          <p:nvPr/>
        </p:nvSpPr>
        <p:spPr>
          <a:xfrm>
            <a:off x="502920" y="32004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Conclusions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502920" y="960120"/>
            <a:ext cx="4114800" cy="27432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23"/>
          <p:cNvSpPr/>
          <p:nvPr/>
        </p:nvSpPr>
        <p:spPr>
          <a:xfrm>
            <a:off x="502920" y="1115568"/>
            <a:ext cx="4069080" cy="1508760"/>
          </a:xfrm>
          <a:prstGeom prst="rect">
            <a:avLst/>
          </a:prstGeom>
          <a:solidFill>
            <a:srgbClr val="243E6E"/>
          </a:solidFill>
          <a:ln cap="flat" cmpd="sng" w="12700">
            <a:solidFill>
              <a:srgbClr val="4A6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3"/>
          <p:cNvSpPr/>
          <p:nvPr/>
        </p:nvSpPr>
        <p:spPr>
          <a:xfrm>
            <a:off x="502920" y="1115568"/>
            <a:ext cx="64008" cy="150876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3"/>
          <p:cNvSpPr/>
          <p:nvPr/>
        </p:nvSpPr>
        <p:spPr>
          <a:xfrm>
            <a:off x="685800" y="1225296"/>
            <a:ext cx="3749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Extreme Efficiency Gap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685800" y="1591056"/>
            <a:ext cx="3749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D6E4F0"/>
                </a:solidFill>
                <a:latin typeface="Calibri"/>
                <a:ea typeface="Calibri"/>
                <a:cs typeface="Calibri"/>
                <a:sym typeface="Calibri"/>
              </a:rPr>
              <a:t>The actual MA map shows an EG of −24% (Pres) and −30% (Senate), both in the extreme left tail of the ensemble — far more Democratic-favoring than nearly all 2,000 randomly generated maps.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4846320" y="1115568"/>
            <a:ext cx="4069080" cy="1508760"/>
          </a:xfrm>
          <a:prstGeom prst="rect">
            <a:avLst/>
          </a:prstGeom>
          <a:solidFill>
            <a:srgbClr val="243E6E"/>
          </a:solidFill>
          <a:ln cap="flat" cmpd="sng" w="12700">
            <a:solidFill>
              <a:srgbClr val="4A6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3"/>
          <p:cNvSpPr/>
          <p:nvPr/>
        </p:nvSpPr>
        <p:spPr>
          <a:xfrm>
            <a:off x="4846320" y="1115568"/>
            <a:ext cx="64008" cy="150876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3"/>
          <p:cNvSpPr/>
          <p:nvPr/>
        </p:nvSpPr>
        <p:spPr>
          <a:xfrm>
            <a:off x="5029200" y="1225296"/>
            <a:ext cx="3749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All 9 Districts Democratic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3"/>
          <p:cNvSpPr/>
          <p:nvPr/>
        </p:nvSpPr>
        <p:spPr>
          <a:xfrm>
            <a:off x="5029200" y="1591056"/>
            <a:ext cx="3749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050"/>
              <a:buFont typeface="Calibri"/>
              <a:buNone/>
            </a:pPr>
            <a:r>
              <a:rPr sz="1000" b="0" i="0">
                <a:solidFill>
                  <a:srgbClr val="D6E4F0"/>
                </a:solidFill>
                <a:latin typeface="Calibri"/>
              </a:rPr>
              <a:t>Winning all 9 districts is a rare outcome in the ensemble. Some of this comes from the state’s Democratic lean, but the actual map still performs unusually strongly for Democrats.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502920" y="2807208"/>
            <a:ext cx="4069080" cy="1508760"/>
          </a:xfrm>
          <a:prstGeom prst="rect">
            <a:avLst/>
          </a:prstGeom>
          <a:solidFill>
            <a:srgbClr val="243E6E"/>
          </a:solidFill>
          <a:ln cap="flat" cmpd="sng" w="12700">
            <a:solidFill>
              <a:srgbClr val="4A6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3"/>
          <p:cNvSpPr/>
          <p:nvPr/>
        </p:nvSpPr>
        <p:spPr>
          <a:xfrm>
            <a:off x="502920" y="2807208"/>
            <a:ext cx="64008" cy="150876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3"/>
          <p:cNvSpPr/>
          <p:nvPr/>
        </p:nvSpPr>
        <p:spPr>
          <a:xfrm>
            <a:off x="685800" y="2916936"/>
            <a:ext cx="3749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More Fragmented Borders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/>
          <p:nvPr/>
        </p:nvSpPr>
        <p:spPr>
          <a:xfrm>
            <a:off x="685800" y="3282696"/>
            <a:ext cx="3749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D6E4F0"/>
                </a:solidFill>
                <a:latin typeface="Calibri"/>
                <a:ea typeface="Calibri"/>
                <a:cs typeface="Calibri"/>
                <a:sym typeface="Calibri"/>
              </a:rPr>
              <a:t>659 cut edges vs ensemble mean of ~480 indicates the map has more fragmented district boundaries than typical — consistent with deliberate line-drawing.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3"/>
          <p:cNvSpPr/>
          <p:nvPr/>
        </p:nvSpPr>
        <p:spPr>
          <a:xfrm>
            <a:off x="4846320" y="2807208"/>
            <a:ext cx="4069080" cy="1508760"/>
          </a:xfrm>
          <a:prstGeom prst="rect">
            <a:avLst/>
          </a:prstGeom>
          <a:solidFill>
            <a:srgbClr val="243E6E"/>
          </a:solidFill>
          <a:ln cap="flat" cmpd="sng" w="12700">
            <a:solidFill>
              <a:srgbClr val="4A6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3"/>
          <p:cNvSpPr/>
          <p:nvPr/>
        </p:nvSpPr>
        <p:spPr>
          <a:xfrm>
            <a:off x="4846320" y="2807208"/>
            <a:ext cx="64008" cy="150876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3"/>
          <p:cNvSpPr/>
          <p:nvPr/>
        </p:nvSpPr>
        <p:spPr>
          <a:xfrm>
            <a:off x="5029200" y="2916936"/>
            <a:ext cx="3749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Rank-9 / Urban Packing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3"/>
          <p:cNvSpPr/>
          <p:nvPr/>
        </p:nvSpPr>
        <p:spPr>
          <a:xfrm>
            <a:off x="5029200" y="3282696"/>
            <a:ext cx="3749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4F0"/>
              </a:buClr>
              <a:buSzPts val="1050"/>
              <a:buFont typeface="Calibri"/>
              <a:buNone/>
            </a:pPr>
            <a:r>
              <a:rPr sz="1000" b="0" i="0">
                <a:solidFill>
                  <a:srgbClr val="D6E4F0"/>
                </a:solidFill>
                <a:latin typeface="Calibri"/>
              </a:rPr>
              <a:t>The box plots sort districts by vote share. “Rank 9” means the bluest district, not CD9. The high red dot likely reflects Boston/Cambridge/Somerville-area voters being packed into the bluest seat.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" name="Google Shape;68;p16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6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sz="2400" b="1" i="0">
                <a:solidFill>
                  <a:srgbClr val="FFFFFF"/>
                </a:solidFill>
                <a:latin typeface="Cambria"/>
              </a:rPr>
              <a:t>Massachusetts Legal Context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36576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6"/>
          <p:cNvSpPr/>
          <p:nvPr/>
        </p:nvSpPr>
        <p:spPr>
          <a:xfrm>
            <a:off x="365760" y="822960"/>
            <a:ext cx="54864" cy="868680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/>
          <p:nvPr/>
        </p:nvSpPr>
        <p:spPr>
          <a:xfrm>
            <a:off x="53035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1B3A6B"/>
                </a:solidFill>
                <a:latin typeface="Calibri"/>
              </a:rPr>
              <a:t>2021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53035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Current map enacted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251460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2514600" y="822960"/>
            <a:ext cx="54864" cy="868680"/>
          </a:xfrm>
          <a:prstGeom prst="rect">
            <a:avLst/>
          </a:prstGeom>
          <a:solidFill>
            <a:srgbClr val="0D6E6E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267919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6E6E"/>
              </a:buClr>
              <a:buSzPts val="2800"/>
              <a:buFont typeface="Calibri"/>
              <a:buNone/>
            </a:pPr>
            <a:r>
              <a:rPr sz="2400" b="1" i="0">
                <a:solidFill>
                  <a:srgbClr val="0D6E6E"/>
                </a:solidFill>
                <a:latin typeface="Calibri"/>
              </a:rPr>
              <a:t>State Leg.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267919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draws districts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66344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4663440" y="822960"/>
            <a:ext cx="54864" cy="868680"/>
          </a:xfrm>
          <a:prstGeom prst="rect">
            <a:avLst/>
          </a:prstGeom>
          <a:solidFill>
            <a:srgbClr val="B22234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482803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2234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B22234"/>
                </a:solidFill>
                <a:latin typeface="Calibri"/>
              </a:rPr>
              <a:t>No IRC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482803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no independent commission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6812280" y="822960"/>
            <a:ext cx="192024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6812280" y="822960"/>
            <a:ext cx="54864" cy="868680"/>
          </a:xfrm>
          <a:prstGeom prst="rect">
            <a:avLst/>
          </a:prstGeom>
          <a:solidFill>
            <a:srgbClr val="5C3D8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6976872" y="932688"/>
            <a:ext cx="1691640" cy="4777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3D8F"/>
              </a:buClr>
              <a:buSzPts val="2800"/>
              <a:buFont typeface="Calibri"/>
              <a:buNone/>
            </a:pPr>
            <a:r>
              <a:rPr sz="2800" b="1" i="0">
                <a:solidFill>
                  <a:srgbClr val="5C3D8F"/>
                </a:solidFill>
                <a:latin typeface="Calibri"/>
              </a:rPr>
              <a:t>Gov. veto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6976872" y="1300734"/>
            <a:ext cx="1691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ordinary statute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365760" y="187452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365760" y="187452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475488" y="187452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Map Creation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475488" y="222199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80" b="0" i="0">
                <a:solidFill>
                  <a:srgbClr val="1A1A2E"/>
                </a:solidFill>
                <a:latin typeface="Calibri"/>
              </a:rPr>
              <a:t>The current congressional map was enacted in 2021 by the Democratic-controlled Massachusetts Legislature, with no independent redistricting commission.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4800600" y="187452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4800600" y="187452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4910328" y="187452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Redistricting Process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4910328" y="222199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80" b="0" i="0">
                <a:solidFill>
                  <a:srgbClr val="1A1A2E"/>
                </a:solidFill>
                <a:latin typeface="Calibri"/>
              </a:rPr>
              <a:t>Massachusetts uses the normal legislative process: the General Court draws maps, the governor can veto, and vetoes can be overridden by a two-thirds vote.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365760" y="329184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365760" y="329184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475488" y="329184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Legal Landscape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475488" y="363931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80" b="0" i="0">
                <a:solidFill>
                  <a:srgbClr val="1A1A2E"/>
                </a:solidFill>
                <a:latin typeface="Calibri"/>
              </a:rPr>
              <a:t>I did not find a major lawsuit against the 2021 congressional map itself. The concern is more political: all 9 seats are Democratic in a strongly Democratic state.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800600" y="3291840"/>
            <a:ext cx="4206240" cy="126187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4800600" y="3291840"/>
            <a:ext cx="4206240" cy="292608"/>
          </a:xfrm>
          <a:prstGeom prst="rect">
            <a:avLst/>
          </a:prstGeom>
          <a:solidFill>
            <a:srgbClr val="1B3A6B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4910328" y="3291840"/>
            <a:ext cx="4023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Notable Litigation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4910328" y="3639312"/>
            <a:ext cx="3986784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sz="850" b="0" i="0">
                <a:solidFill>
                  <a:srgbClr val="1A1A2E"/>
                </a:solidFill>
                <a:latin typeface="Calibri"/>
              </a:rPr>
              <a:t>Related Massachusetts cases include Boston’s 2023 City Council map being blocked over race-based districting concerns, and earlier Boston-area state House litigation over minority vote dilution.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20040" y="4901184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>
                <a:solidFill>
                  <a:srgbClr val="5A6473"/>
                </a:solidFill>
              </a:rPr>
              <a:t>Sources: Ballotpedia, Princeton Gerrymandering Project, MA Legislature court-case list, GBH/WBUR, Justia.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