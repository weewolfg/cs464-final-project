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Massachusetts as a hard case: it is already a very Democratic state, so the question is not simply whether Democrats win. The question is whether the enacted plan is unusually Democratic-favoring compared with many legal ReCom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Layman terms: presidential lean is explained as a roughly 25-point statewide Democratic win, CD7 is called District 7, and IRC is explained as a citizens panel/commission rather than an acronym.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uses plain language and fixes the overlap by spacing the three sections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“making the files usable” rather than heavy technical wording. Still include the rubric points: nesting/repair, small rook lengths, doctor True, population preserved.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Overlaps were fixed by shortening the text and giving each column separate vertical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overclaim perfect mixing. Say this is evidence that our chosen run length is reasonable because doubling the run does not meaningfully change the observed summary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setup slide before showing outlier graphs. It explains what the summary numbers mean in plain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deck listed ensemble means that were not backed by saved notebook output and did not visually match the histogram. This version avoids inventing those values and uses the histogram visually.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should not be framed as “all coastal weirdness equals gerrymandering.” The stronger claim is comparative: even with Massachusetts geography included in the same precinct graph, the actual map has unusually many cut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direct question here: the majority-minority district is District 7. It is 61.33% minority in the 2021 Congressional Mapbook and gave Democrats about 82% of the two-party vote in both project elections.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the audience understands the x-axis. The numbers 1 to 9 are ranks, not district numbers. This corrects a common mistake: the “9th” point is the most Democratic district, which is the District 7 Boston-area seat.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box-plot question. The outliers are a consequence of ranking + geography + a Senate race with local variation. They are not saying the data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nuance. The strongest supported claim is comparative and empirical: the map is unusual in cut edges and the rank pattern, while the efficiency gap should be reported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6F8F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B66"/>
        </a:solidFill>
      </p:bgPr>
    </p:bg>
    <p:spTree>
      <p:nvGrpSpPr>
        <p:cNvPr id="1" name=""/>
        <p:cNvGrpSpPr/>
        <p:nvPr/>
      </p:nvGrpSpPr>
      <p:grpSpPr>
        <a:xfrm>
          <a:off x="0" y="0"/>
          <a:ext cx="0" cy="0"/>
          <a:chOff x="0" y="0"/>
          <a:chExt cx="0" cy="0"/>
        </a:xfrm>
      </p:grpSpPr>
      <p:sp>
        <p:nvSpPr>
          <p:cNvPr id="2" name="Text 0"/>
          <p:cNvSpPr/>
          <p:nvPr/>
        </p:nvSpPr>
        <p:spPr>
          <a:xfrm>
            <a:off x="685800" y="594360"/>
            <a:ext cx="5852160" cy="228600"/>
          </a:xfrm>
          <a:prstGeom prst="rect">
            <a:avLst/>
          </a:prstGeom>
          <a:noFill/>
          <a:ln/>
        </p:spPr>
        <p:txBody>
          <a:bodyPr wrap="square" lIns="0" tIns="0" rIns="0" bIns="0" rtlCol="0" anchor="ctr"/>
          <a:lstStyle/>
          <a:p>
            <a:pPr indent="0" marL="0">
              <a:buNone/>
            </a:pPr>
            <a:r>
              <a:rPr lang="en-US" sz="1300" dirty="0">
                <a:solidFill>
                  <a:srgbClr val="D8E5F5"/>
                </a:solidFill>
              </a:rPr>
              <a:t>AI for Redistricting — Spring 2026</a:t>
            </a:r>
            <a:endParaRPr lang="en-US" sz="1300" dirty="0"/>
          </a:p>
        </p:txBody>
      </p:sp>
      <p:sp>
        <p:nvSpPr>
          <p:cNvPr id="3" name="Text 1"/>
          <p:cNvSpPr/>
          <p:nvPr/>
        </p:nvSpPr>
        <p:spPr>
          <a:xfrm>
            <a:off x="685800" y="1389888"/>
            <a:ext cx="6492240" cy="1234440"/>
          </a:xfrm>
          <a:prstGeom prst="rect">
            <a:avLst/>
          </a:prstGeom>
          <a:noFill/>
          <a:ln/>
        </p:spPr>
        <p:txBody>
          <a:bodyPr wrap="square" lIns="0" tIns="0" rIns="0" bIns="0" rtlCol="0" anchor="ctr">
            <a:normAutofit/>
          </a:bodyPr>
          <a:lstStyle/>
          <a:p>
            <a:pPr indent="0" marL="0">
              <a:buNone/>
            </a:pPr>
            <a:r>
              <a:rPr lang="en-US" sz="3600" b="1" dirty="0">
                <a:solidFill>
                  <a:srgbClr val="FFFFFF"/>
                </a:solidFill>
              </a:rPr>
              <a:t>Gerrymandering Analysis of</a:t>
            </a:r>
            <a:endParaRPr lang="en-US" sz="3600" dirty="0"/>
          </a:p>
          <a:p>
            <a:pPr indent="0" marL="0">
              <a:buNone/>
            </a:pPr>
            <a:r>
              <a:rPr lang="en-US" sz="3600" b="1" dirty="0">
                <a:solidFill>
                  <a:srgbClr val="FFFFFF"/>
                </a:solidFill>
              </a:rPr>
              <a:t>Massachusetts Congressional Districts</a:t>
            </a:r>
            <a:endParaRPr lang="en-US" sz="3600" dirty="0"/>
          </a:p>
        </p:txBody>
      </p:sp>
      <p:sp>
        <p:nvSpPr>
          <p:cNvPr id="4" name="Shape 2"/>
          <p:cNvSpPr/>
          <p:nvPr/>
        </p:nvSpPr>
        <p:spPr>
          <a:xfrm>
            <a:off x="685800" y="2889504"/>
            <a:ext cx="2971800" cy="0"/>
          </a:xfrm>
          <a:prstGeom prst="line">
            <a:avLst/>
          </a:prstGeom>
          <a:noFill/>
          <a:ln w="25400">
            <a:solidFill>
              <a:srgbClr val="D91F3C"/>
            </a:solidFill>
            <a:prstDash val="solid"/>
          </a:ln>
        </p:spPr>
      </p:sp>
      <p:sp>
        <p:nvSpPr>
          <p:cNvPr id="5" name="Text 3"/>
          <p:cNvSpPr/>
          <p:nvPr/>
        </p:nvSpPr>
        <p:spPr>
          <a:xfrm>
            <a:off x="685800" y="3182112"/>
            <a:ext cx="6217920" cy="320040"/>
          </a:xfrm>
          <a:prstGeom prst="rect">
            <a:avLst/>
          </a:prstGeom>
          <a:noFill/>
          <a:ln/>
        </p:spPr>
        <p:txBody>
          <a:bodyPr wrap="square" lIns="0" tIns="0" rIns="0" bIns="0" rtlCol="0" anchor="ctr"/>
          <a:lstStyle/>
          <a:p>
            <a:pPr indent="0" marL="0">
              <a:buNone/>
            </a:pPr>
            <a:r>
              <a:rPr lang="en-US" sz="1500" dirty="0">
                <a:solidFill>
                  <a:srgbClr val="EAF2FC"/>
                </a:solidFill>
              </a:rPr>
              <a:t>2024 Presidential &amp; Senate Elections  |  ReCom Ensemble Analysis</a:t>
            </a:r>
            <a:endParaRPr lang="en-US" sz="1500" dirty="0"/>
          </a:p>
        </p:txBody>
      </p:sp>
      <p:pic>
        <p:nvPicPr>
          <p:cNvPr id="6" name="Image 0" descr="/mnt/data/ma_districts_map.png">    </p:cNvPr>
          <p:cNvPicPr>
            <a:picLocks noChangeAspect="1"/>
          </p:cNvPicPr>
          <p:nvPr/>
        </p:nvPicPr>
        <p:blipFill>
          <a:blip r:embed="rId1"/>
          <a:srcRect l="0" r="55630" t="5000" b="7000"/>
          <a:stretch/>
        </p:blipFill>
        <p:spPr>
          <a:xfrm>
            <a:off x="7315200" y="502920"/>
            <a:ext cx="4114800" cy="5440680"/>
          </a:xfrm>
          <a:prstGeom prst="rect">
            <a:avLst/>
          </a:prstGeom>
        </p:spPr>
      </p:pic>
      <p:sp>
        <p:nvSpPr>
          <p:cNvPr id="7" name="Text 4"/>
          <p:cNvSpPr/>
          <p:nvPr/>
        </p:nvSpPr>
        <p:spPr>
          <a:xfrm>
            <a:off x="685800" y="6080760"/>
            <a:ext cx="4937760" cy="228600"/>
          </a:xfrm>
          <a:prstGeom prst="rect">
            <a:avLst/>
          </a:prstGeom>
          <a:noFill/>
          <a:ln/>
        </p:spPr>
        <p:txBody>
          <a:bodyPr wrap="square" lIns="0" tIns="0" rIns="0" bIns="0" rtlCol="0" anchor="ctr"/>
          <a:lstStyle/>
          <a:p>
            <a:pPr indent="0" marL="0">
              <a:buNone/>
            </a:pPr>
            <a:r>
              <a:rPr lang="en-US" sz="1200" dirty="0">
                <a:solidFill>
                  <a:srgbClr val="D8E5F5"/>
                </a:solidFill>
              </a:rPr>
              <a:t>University of San Francisco  •  CS 464</a:t>
            </a:r>
            <a:endParaRPr lang="en-US" sz="1200" dirty="0"/>
          </a:p>
        </p:txBody>
      </p:sp>
      <p:sp>
        <p:nvSpPr>
          <p:cNvPr id="25" name="Slide Number Placeholder 0"/>
          <p:cNvSpPr>
            <a:spLocks noGrp="1"/>
          </p:cNvSpPr>
          <p:nvPr>
            <p:ph type="sldNum" sz="quarter" idx="4294967295"/>
          </p:nvPr>
        </p:nvSpPr>
        <p:spPr>
          <a:xfrm>
            <a:off x="1138428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5486400" cy="228600"/>
          </a:xfrm>
          <a:prstGeom prst="rect">
            <a:avLst/>
          </a:prstGeom>
          <a:noFill/>
        </p:spPr>
        <p:txBody>
          <a:bodyPr wrap="square" anchor="t" lIns="18288" rIns="18288" tIns="9144" bIns="9144">
            <a:noAutofit/>
          </a:bodyPr>
          <a:lstStyle/>
          <a:p>
            <a:pPr algn="l">
              <a:lnSpc>
                <a:spcPct val="102000"/>
              </a:lnSpc>
            </a:pPr>
            <a:r>
              <a:rPr sz="1100" b="1">
                <a:solidFill>
                  <a:srgbClr val="2075BE"/>
                </a:solidFill>
                <a:latin typeface="Aptos"/>
              </a:rPr>
              <a:t>STATE CONTEXT</a:t>
            </a:r>
          </a:p>
        </p:txBody>
      </p:sp>
      <p:sp>
        <p:nvSpPr>
          <p:cNvPr id="3" name="TextBox 2"/>
          <p:cNvSpPr txBox="1"/>
          <p:nvPr/>
        </p:nvSpPr>
        <p:spPr>
          <a:xfrm>
            <a:off x="411480" y="530352"/>
            <a:ext cx="11155680" cy="502920"/>
          </a:xfrm>
          <a:prstGeom prst="rect">
            <a:avLst/>
          </a:prstGeom>
          <a:noFill/>
        </p:spPr>
        <p:txBody>
          <a:bodyPr wrap="square" anchor="t" lIns="18288" rIns="18288" tIns="9144" bIns="9144">
            <a:noAutofit/>
          </a:bodyPr>
          <a:lstStyle/>
          <a:p>
            <a:pPr algn="l">
              <a:lnSpc>
                <a:spcPct val="102000"/>
              </a:lnSpc>
            </a:pPr>
            <a:r>
              <a:rPr sz="3200" b="1">
                <a:solidFill>
                  <a:srgbClr val="183D66"/>
                </a:solidFill>
                <a:latin typeface="Aptos Display"/>
              </a:rPr>
              <a:t>The Massachusetts dilemma</a:t>
            </a:r>
          </a:p>
        </p:txBody>
      </p:sp>
      <p:sp>
        <p:nvSpPr>
          <p:cNvPr id="4" name="Rectangle 3"/>
          <p:cNvSpPr/>
          <p:nvPr/>
        </p:nvSpPr>
        <p:spPr>
          <a:xfrm>
            <a:off x="411480" y="1078992"/>
            <a:ext cx="11292840" cy="16459"/>
          </a:xfrm>
          <a:prstGeom prst="rect">
            <a:avLst/>
          </a:prstGeom>
          <a:solidFill>
            <a:srgbClr val="C8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325880"/>
            <a:ext cx="6675120" cy="822960"/>
          </a:xfrm>
          <a:prstGeom prst="rect">
            <a:avLst/>
          </a:prstGeom>
          <a:noFill/>
        </p:spPr>
        <p:txBody>
          <a:bodyPr wrap="square" anchor="t" lIns="18288" rIns="18288" tIns="9144" bIns="9144">
            <a:noAutofit/>
          </a:bodyPr>
          <a:lstStyle/>
          <a:p>
            <a:pPr algn="l">
              <a:lnSpc>
                <a:spcPct val="102000"/>
              </a:lnSpc>
            </a:pPr>
            <a:r>
              <a:rPr sz="2100" b="0">
                <a:solidFill>
                  <a:srgbClr val="1C2330"/>
                </a:solidFill>
                <a:latin typeface="Aptos"/>
              </a:rPr>
              <a:t>Massachusetts already votes strongly Democratic. So the project is not asking why Democrats win; it asks whether the enacted map makes that result stronger than other reasonable Massachusetts maps.</a:t>
            </a:r>
          </a:p>
        </p:txBody>
      </p:sp>
      <p:sp>
        <p:nvSpPr>
          <p:cNvPr id="6" name="TextBox 5"/>
          <p:cNvSpPr txBox="1"/>
          <p:nvPr/>
        </p:nvSpPr>
        <p:spPr>
          <a:xfrm>
            <a:off x="7543800" y="1325880"/>
            <a:ext cx="1554480" cy="329184"/>
          </a:xfrm>
          <a:prstGeom prst="rect">
            <a:avLst/>
          </a:prstGeom>
          <a:noFill/>
        </p:spPr>
        <p:txBody>
          <a:bodyPr wrap="square" anchor="t" lIns="18288" rIns="18288" tIns="9144" bIns="9144">
            <a:noAutofit/>
          </a:bodyPr>
          <a:lstStyle/>
          <a:p>
            <a:pPr algn="ctr">
              <a:lnSpc>
                <a:spcPct val="102000"/>
              </a:lnSpc>
            </a:pPr>
            <a:r>
              <a:rPr sz="2300" b="1">
                <a:solidFill>
                  <a:srgbClr val="183D66"/>
                </a:solidFill>
                <a:latin typeface="Aptos"/>
              </a:rPr>
              <a:t>9 / 9</a:t>
            </a:r>
          </a:p>
        </p:txBody>
      </p:sp>
      <p:sp>
        <p:nvSpPr>
          <p:cNvPr id="7" name="TextBox 6"/>
          <p:cNvSpPr txBox="1"/>
          <p:nvPr/>
        </p:nvSpPr>
        <p:spPr>
          <a:xfrm>
            <a:off x="7543800" y="1709928"/>
            <a:ext cx="1554480" cy="301752"/>
          </a:xfrm>
          <a:prstGeom prst="rect">
            <a:avLst/>
          </a:prstGeom>
          <a:noFill/>
        </p:spPr>
        <p:txBody>
          <a:bodyPr wrap="square" anchor="t" lIns="18288" rIns="18288" tIns="9144" bIns="9144">
            <a:noAutofit/>
          </a:bodyPr>
          <a:lstStyle/>
          <a:p>
            <a:pPr algn="ctr">
              <a:lnSpc>
                <a:spcPct val="102000"/>
              </a:lnSpc>
            </a:pPr>
            <a:r>
              <a:rPr sz="1100" b="0">
                <a:solidFill>
                  <a:srgbClr val="586577"/>
                </a:solidFill>
                <a:latin typeface="Aptos"/>
              </a:rPr>
              <a:t>Democratic wins</a:t>
            </a:r>
          </a:p>
        </p:txBody>
      </p:sp>
      <p:sp>
        <p:nvSpPr>
          <p:cNvPr id="8" name="TextBox 7"/>
          <p:cNvSpPr txBox="1"/>
          <p:nvPr/>
        </p:nvSpPr>
        <p:spPr>
          <a:xfrm>
            <a:off x="9281160" y="1325880"/>
            <a:ext cx="2057400" cy="329184"/>
          </a:xfrm>
          <a:prstGeom prst="rect">
            <a:avLst/>
          </a:prstGeom>
          <a:noFill/>
        </p:spPr>
        <p:txBody>
          <a:bodyPr wrap="square" anchor="t" lIns="18288" rIns="18288" tIns="9144" bIns="9144">
            <a:noAutofit/>
          </a:bodyPr>
          <a:lstStyle/>
          <a:p>
            <a:pPr algn="ctr">
              <a:lnSpc>
                <a:spcPct val="102000"/>
              </a:lnSpc>
            </a:pPr>
            <a:r>
              <a:rPr sz="2300" b="1">
                <a:solidFill>
                  <a:srgbClr val="BE2337"/>
                </a:solidFill>
                <a:latin typeface="Aptos"/>
              </a:rPr>
              <a:t>D +25</a:t>
            </a:r>
          </a:p>
        </p:txBody>
      </p:sp>
      <p:sp>
        <p:nvSpPr>
          <p:cNvPr id="9" name="TextBox 8"/>
          <p:cNvSpPr txBox="1"/>
          <p:nvPr/>
        </p:nvSpPr>
        <p:spPr>
          <a:xfrm>
            <a:off x="9281160" y="1709928"/>
            <a:ext cx="2057400" cy="301752"/>
          </a:xfrm>
          <a:prstGeom prst="rect">
            <a:avLst/>
          </a:prstGeom>
          <a:noFill/>
        </p:spPr>
        <p:txBody>
          <a:bodyPr wrap="square" anchor="t" lIns="18288" rIns="18288" tIns="9144" bIns="9144">
            <a:noAutofit/>
          </a:bodyPr>
          <a:lstStyle/>
          <a:p>
            <a:pPr algn="ctr">
              <a:lnSpc>
                <a:spcPct val="102000"/>
              </a:lnSpc>
            </a:pPr>
            <a:r>
              <a:rPr sz="1100" b="0">
                <a:solidFill>
                  <a:srgbClr val="586577"/>
                </a:solidFill>
                <a:latin typeface="Aptos"/>
              </a:rPr>
              <a:t>how MA voted for president</a:t>
            </a:r>
          </a:p>
        </p:txBody>
      </p:sp>
      <p:sp>
        <p:nvSpPr>
          <p:cNvPr id="10" name="TextBox 9"/>
          <p:cNvSpPr txBox="1"/>
          <p:nvPr/>
        </p:nvSpPr>
        <p:spPr>
          <a:xfrm>
            <a:off x="594360" y="2743200"/>
            <a:ext cx="4754880" cy="274320"/>
          </a:xfrm>
          <a:prstGeom prst="rect">
            <a:avLst/>
          </a:prstGeom>
          <a:noFill/>
        </p:spPr>
        <p:txBody>
          <a:bodyPr wrap="square" anchor="t" lIns="18288" rIns="18288" tIns="9144" bIns="9144">
            <a:noAutofit/>
          </a:bodyPr>
          <a:lstStyle/>
          <a:p>
            <a:pPr algn="l">
              <a:lnSpc>
                <a:spcPct val="102000"/>
              </a:lnSpc>
            </a:pPr>
            <a:r>
              <a:rPr sz="2200" b="1">
                <a:solidFill>
                  <a:srgbClr val="183D66"/>
                </a:solidFill>
                <a:latin typeface="Aptos Display"/>
              </a:rPr>
              <a:t>Key terms in plain English</a:t>
            </a:r>
          </a:p>
        </p:txBody>
      </p:sp>
      <p:sp>
        <p:nvSpPr>
          <p:cNvPr id="11" name="TextBox 10"/>
          <p:cNvSpPr txBox="1"/>
          <p:nvPr/>
        </p:nvSpPr>
        <p:spPr>
          <a:xfrm>
            <a:off x="594360" y="3154680"/>
            <a:ext cx="5074920" cy="1417320"/>
          </a:xfrm>
          <a:prstGeom prst="rect">
            <a:avLst/>
          </a:prstGeom>
          <a:noFill/>
        </p:spPr>
        <p:txBody>
          <a:bodyPr wrap="square" anchor="t" lIns="18288" rIns="18288" tIns="9144" bIns="9144">
            <a:noAutofit/>
          </a:bodyPr>
          <a:lstStyle/>
          <a:p>
            <a:pPr>
              <a:lnSpc>
                <a:spcPct val="103000"/>
              </a:lnSpc>
              <a:defRPr sz="1900">
                <a:solidFill>
                  <a:srgbClr val="1C2330"/>
                </a:solidFill>
                <a:latin typeface="Aptos"/>
              </a:defRPr>
            </a:pPr>
            <a:r>
              <a:t>• Presidential lean = how the state voted for president.</a:t>
            </a:r>
          </a:p>
          <a:p>
            <a:pPr>
              <a:lnSpc>
                <a:spcPct val="103000"/>
              </a:lnSpc>
              <a:defRPr sz="1900">
                <a:solidFill>
                  <a:srgbClr val="1C2330"/>
                </a:solidFill>
                <a:latin typeface="Aptos"/>
              </a:defRPr>
            </a:pPr>
            <a:r>
              <a:t>• District 7 = the Boston-area congressional seat.</a:t>
            </a:r>
          </a:p>
          <a:p>
            <a:pPr>
              <a:lnSpc>
                <a:spcPct val="103000"/>
              </a:lnSpc>
              <a:defRPr sz="1900">
                <a:solidFill>
                  <a:srgbClr val="1C2330"/>
                </a:solidFill>
                <a:latin typeface="Aptos"/>
              </a:defRPr>
            </a:pPr>
            <a:r>
              <a:t>• No independent commission = state lawmakers drew the map.</a:t>
            </a:r>
          </a:p>
        </p:txBody>
      </p:sp>
      <p:sp>
        <p:nvSpPr>
          <p:cNvPr id="12" name="TextBox 11"/>
          <p:cNvSpPr txBox="1"/>
          <p:nvPr/>
        </p:nvSpPr>
        <p:spPr>
          <a:xfrm>
            <a:off x="6172200" y="2743200"/>
            <a:ext cx="4297680" cy="274320"/>
          </a:xfrm>
          <a:prstGeom prst="rect">
            <a:avLst/>
          </a:prstGeom>
          <a:noFill/>
        </p:spPr>
        <p:txBody>
          <a:bodyPr wrap="square" anchor="t" lIns="18288" rIns="18288" tIns="9144" bIns="9144">
            <a:noAutofit/>
          </a:bodyPr>
          <a:lstStyle/>
          <a:p>
            <a:pPr algn="l">
              <a:lnSpc>
                <a:spcPct val="102000"/>
              </a:lnSpc>
            </a:pPr>
            <a:r>
              <a:rPr sz="2200" b="1">
                <a:solidFill>
                  <a:srgbClr val="183D66"/>
                </a:solidFill>
                <a:latin typeface="Aptos Display"/>
              </a:rPr>
              <a:t>What makes MA different</a:t>
            </a:r>
          </a:p>
        </p:txBody>
      </p:sp>
      <p:sp>
        <p:nvSpPr>
          <p:cNvPr id="13" name="TextBox 12"/>
          <p:cNvSpPr txBox="1"/>
          <p:nvPr/>
        </p:nvSpPr>
        <p:spPr>
          <a:xfrm>
            <a:off x="6172200" y="3154680"/>
            <a:ext cx="4800600" cy="1325880"/>
          </a:xfrm>
          <a:prstGeom prst="rect">
            <a:avLst/>
          </a:prstGeom>
          <a:noFill/>
        </p:spPr>
        <p:txBody>
          <a:bodyPr wrap="square" anchor="t" lIns="18288" rIns="18288" tIns="9144" bIns="9144">
            <a:noAutofit/>
          </a:bodyPr>
          <a:lstStyle/>
          <a:p>
            <a:pPr>
              <a:lnSpc>
                <a:spcPct val="103000"/>
              </a:lnSpc>
              <a:defRPr sz="1900">
                <a:solidFill>
                  <a:srgbClr val="1C2330"/>
                </a:solidFill>
                <a:latin typeface="Aptos"/>
              </a:defRPr>
            </a:pPr>
            <a:r>
              <a:t>• The state is blue before map drawing.</a:t>
            </a:r>
          </a:p>
          <a:p>
            <a:pPr>
              <a:lnSpc>
                <a:spcPct val="103000"/>
              </a:lnSpc>
              <a:defRPr sz="1900">
                <a:solidFill>
                  <a:srgbClr val="1C2330"/>
                </a:solidFill>
                <a:latin typeface="Aptos"/>
              </a:defRPr>
            </a:pPr>
            <a:r>
              <a:t>• Boston-area voters are very dense, which can create packed districts.</a:t>
            </a:r>
          </a:p>
          <a:p>
            <a:pPr>
              <a:lnSpc>
                <a:spcPct val="103000"/>
              </a:lnSpc>
              <a:defRPr sz="1900">
                <a:solidFill>
                  <a:srgbClr val="1C2330"/>
                </a:solidFill>
                <a:latin typeface="Aptos"/>
              </a:defRPr>
            </a:pPr>
            <a:r>
              <a:t>• We compare the enacted plan with many ReCom maps.</a:t>
            </a:r>
          </a:p>
        </p:txBody>
      </p:sp>
      <p:sp>
        <p:nvSpPr>
          <p:cNvPr id="14" name="TextBox 13"/>
          <p:cNvSpPr txBox="1"/>
          <p:nvPr/>
        </p:nvSpPr>
        <p:spPr>
          <a:xfrm>
            <a:off x="594360" y="5715000"/>
            <a:ext cx="10698480" cy="384048"/>
          </a:xfrm>
          <a:prstGeom prst="rect">
            <a:avLst/>
          </a:prstGeom>
          <a:noFill/>
        </p:spPr>
        <p:txBody>
          <a:bodyPr wrap="square" anchor="t" lIns="18288" rIns="18288" tIns="9144" bIns="9144">
            <a:noAutofit/>
          </a:bodyPr>
          <a:lstStyle/>
          <a:p>
            <a:pPr algn="l">
              <a:lnSpc>
                <a:spcPct val="102000"/>
              </a:lnSpc>
            </a:pPr>
            <a:r>
              <a:rPr sz="1700" b="1">
                <a:solidFill>
                  <a:srgbClr val="BE2337"/>
                </a:solidFill>
                <a:latin typeface="Aptos"/>
              </a:rPr>
              <a:t>Main idea: compare Massachusetts to other possible Massachusetts maps, not to a perfectly balanced swing state.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5486400" cy="228600"/>
          </a:xfrm>
          <a:prstGeom prst="rect">
            <a:avLst/>
          </a:prstGeom>
          <a:noFill/>
        </p:spPr>
        <p:txBody>
          <a:bodyPr wrap="square" anchor="t" lIns="18288" rIns="18288" tIns="9144" bIns="9144">
            <a:noAutofit/>
          </a:bodyPr>
          <a:lstStyle/>
          <a:p>
            <a:pPr algn="l">
              <a:lnSpc>
                <a:spcPct val="103000"/>
              </a:lnSpc>
            </a:pPr>
            <a:r>
              <a:rPr sz="1100" b="1">
                <a:solidFill>
                  <a:srgbClr val="2075BE"/>
                </a:solidFill>
                <a:latin typeface="Aptos"/>
              </a:rPr>
              <a:t>MASSACHUSETTS MAP BACKGROUND</a:t>
            </a:r>
          </a:p>
        </p:txBody>
      </p:sp>
      <p:sp>
        <p:nvSpPr>
          <p:cNvPr id="3" name="TextBox 2"/>
          <p:cNvSpPr txBox="1"/>
          <p:nvPr/>
        </p:nvSpPr>
        <p:spPr>
          <a:xfrm>
            <a:off x="411480" y="502920"/>
            <a:ext cx="11155680" cy="502920"/>
          </a:xfrm>
          <a:prstGeom prst="rect">
            <a:avLst/>
          </a:prstGeom>
          <a:noFill/>
        </p:spPr>
        <p:txBody>
          <a:bodyPr wrap="square" anchor="t" lIns="18288" rIns="18288" tIns="9144" bIns="9144">
            <a:noAutofit/>
          </a:bodyPr>
          <a:lstStyle/>
          <a:p>
            <a:pPr algn="l">
              <a:lnSpc>
                <a:spcPct val="103000"/>
              </a:lnSpc>
            </a:pPr>
            <a:r>
              <a:rPr sz="3000" b="1">
                <a:solidFill>
                  <a:srgbClr val="183D66"/>
                </a:solidFill>
                <a:latin typeface="Aptos Display"/>
              </a:rPr>
              <a:t>Population and legal context</a:t>
            </a:r>
          </a:p>
        </p:txBody>
      </p:sp>
      <p:sp>
        <p:nvSpPr>
          <p:cNvPr id="4" name="Rectangle 3"/>
          <p:cNvSpPr/>
          <p:nvPr/>
        </p:nvSpPr>
        <p:spPr>
          <a:xfrm>
            <a:off x="411480" y="1060704"/>
            <a:ext cx="11292840" cy="18288"/>
          </a:xfrm>
          <a:prstGeom prst="rect">
            <a:avLst/>
          </a:prstGeom>
          <a:solidFill>
            <a:srgbClr val="C8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502920" y="1463040"/>
            <a:ext cx="5212080" cy="3840480"/>
          </a:xfrm>
          <a:prstGeom prst="rect">
            <a:avLst/>
          </a:prstGeom>
        </p:spPr>
      </p:pic>
      <p:sp>
        <p:nvSpPr>
          <p:cNvPr id="6" name="TextBox 5"/>
          <p:cNvSpPr txBox="1"/>
          <p:nvPr/>
        </p:nvSpPr>
        <p:spPr>
          <a:xfrm>
            <a:off x="6080760" y="1325880"/>
            <a:ext cx="4297680" cy="292608"/>
          </a:xfrm>
          <a:prstGeom prst="rect">
            <a:avLst/>
          </a:prstGeom>
          <a:noFill/>
        </p:spPr>
        <p:txBody>
          <a:bodyPr wrap="square" anchor="t" lIns="18288" rIns="18288" tIns="9144" bIns="9144">
            <a:noAutofit/>
          </a:bodyPr>
          <a:lstStyle/>
          <a:p>
            <a:pPr algn="l">
              <a:lnSpc>
                <a:spcPct val="103000"/>
              </a:lnSpc>
            </a:pPr>
            <a:r>
              <a:rPr sz="2100" b="1">
                <a:solidFill>
                  <a:srgbClr val="183D66"/>
                </a:solidFill>
                <a:latin typeface="Aptos Display"/>
              </a:rPr>
              <a:t>How the map was made</a:t>
            </a:r>
          </a:p>
        </p:txBody>
      </p:sp>
      <p:sp>
        <p:nvSpPr>
          <p:cNvPr id="7" name="TextBox 6"/>
          <p:cNvSpPr txBox="1"/>
          <p:nvPr/>
        </p:nvSpPr>
        <p:spPr>
          <a:xfrm>
            <a:off x="6080760" y="1691640"/>
            <a:ext cx="5257800" cy="1417320"/>
          </a:xfrm>
          <a:prstGeom prst="rect">
            <a:avLst/>
          </a:prstGeom>
          <a:noFill/>
        </p:spPr>
        <p:txBody>
          <a:bodyPr wrap="square" anchor="t" lIns="18288" rIns="18288" tIns="9144" bIns="9144">
            <a:noAutofit/>
          </a:bodyPr>
          <a:lstStyle/>
          <a:p>
            <a:pPr>
              <a:lnSpc>
                <a:spcPct val="105000"/>
              </a:lnSpc>
              <a:defRPr sz="1900">
                <a:solidFill>
                  <a:srgbClr val="1C2330"/>
                </a:solidFill>
                <a:latin typeface="Aptos"/>
              </a:defRPr>
            </a:pPr>
            <a:r>
              <a:t>• The current congressional map became law in 2021.</a:t>
            </a:r>
          </a:p>
          <a:p>
            <a:pPr>
              <a:lnSpc>
                <a:spcPct val="105000"/>
              </a:lnSpc>
              <a:defRPr sz="1900">
                <a:solidFill>
                  <a:srgbClr val="1C2330"/>
                </a:solidFill>
                <a:latin typeface="Aptos"/>
              </a:defRPr>
            </a:pPr>
            <a:r>
              <a:t>• State lawmakers drew it through the normal lawmaking process.</a:t>
            </a:r>
          </a:p>
          <a:p>
            <a:pPr>
              <a:lnSpc>
                <a:spcPct val="105000"/>
              </a:lnSpc>
              <a:defRPr sz="1900">
                <a:solidFill>
                  <a:srgbClr val="1C2330"/>
                </a:solidFill>
                <a:latin typeface="Aptos"/>
              </a:defRPr>
            </a:pPr>
            <a:r>
              <a:t>• The governor can veto it; lawmakers can override with a two-thirds vote.</a:t>
            </a:r>
          </a:p>
        </p:txBody>
      </p:sp>
      <p:sp>
        <p:nvSpPr>
          <p:cNvPr id="8" name="TextBox 7"/>
          <p:cNvSpPr txBox="1"/>
          <p:nvPr/>
        </p:nvSpPr>
        <p:spPr>
          <a:xfrm>
            <a:off x="6080760" y="3429000"/>
            <a:ext cx="4297680" cy="292608"/>
          </a:xfrm>
          <a:prstGeom prst="rect">
            <a:avLst/>
          </a:prstGeom>
          <a:noFill/>
        </p:spPr>
        <p:txBody>
          <a:bodyPr wrap="square" anchor="t" lIns="18288" rIns="18288" tIns="9144" bIns="9144">
            <a:noAutofit/>
          </a:bodyPr>
          <a:lstStyle/>
          <a:p>
            <a:pPr algn="l">
              <a:lnSpc>
                <a:spcPct val="103000"/>
              </a:lnSpc>
            </a:pPr>
            <a:r>
              <a:rPr sz="2100" b="1">
                <a:solidFill>
                  <a:srgbClr val="183D66"/>
                </a:solidFill>
                <a:latin typeface="Aptos Display"/>
              </a:rPr>
              <a:t>Geography pattern</a:t>
            </a:r>
          </a:p>
        </p:txBody>
      </p:sp>
      <p:sp>
        <p:nvSpPr>
          <p:cNvPr id="9" name="TextBox 8"/>
          <p:cNvSpPr txBox="1"/>
          <p:nvPr/>
        </p:nvSpPr>
        <p:spPr>
          <a:xfrm>
            <a:off x="6080760" y="3794760"/>
            <a:ext cx="5257800" cy="1965960"/>
          </a:xfrm>
          <a:prstGeom prst="rect">
            <a:avLst/>
          </a:prstGeom>
          <a:noFill/>
        </p:spPr>
        <p:txBody>
          <a:bodyPr wrap="square" anchor="t" lIns="18288" rIns="18288" tIns="9144" bIns="9144">
            <a:noAutofit/>
          </a:bodyPr>
          <a:lstStyle/>
          <a:p>
            <a:pPr>
              <a:lnSpc>
                <a:spcPct val="105000"/>
              </a:lnSpc>
              <a:defRPr sz="1800">
                <a:solidFill>
                  <a:srgbClr val="1C2330"/>
                </a:solidFill>
                <a:latin typeface="Aptos"/>
              </a:defRPr>
            </a:pPr>
            <a:r>
              <a:t>• Western MA and Cape/Island districts cover much larger areas.</a:t>
            </a:r>
          </a:p>
          <a:p>
            <a:pPr>
              <a:lnSpc>
                <a:spcPct val="105000"/>
              </a:lnSpc>
              <a:defRPr sz="1800">
                <a:solidFill>
                  <a:srgbClr val="1C2330"/>
                </a:solidFill>
                <a:latin typeface="Aptos"/>
              </a:defRPr>
            </a:pPr>
            <a:r>
              <a:t>• Boston-area districts are geographically smaller but much denser.</a:t>
            </a:r>
          </a:p>
          <a:p>
            <a:pPr>
              <a:lnSpc>
                <a:spcPct val="105000"/>
              </a:lnSpc>
              <a:defRPr sz="1800">
                <a:solidFill>
                  <a:srgbClr val="1C2330"/>
                </a:solidFill>
                <a:latin typeface="Aptos"/>
              </a:defRPr>
            </a:pPr>
            <a:r>
              <a:t>• District 7 is the Boston/Cambridge/Somerville-area seat.</a:t>
            </a:r>
          </a:p>
          <a:p>
            <a:pPr>
              <a:lnSpc>
                <a:spcPct val="105000"/>
              </a:lnSpc>
              <a:defRPr sz="1800">
                <a:solidFill>
                  <a:srgbClr val="1C2330"/>
                </a:solidFill>
                <a:latin typeface="Aptos"/>
              </a:defRPr>
            </a:pPr>
            <a:r>
              <a:t>• District 9 includes the South Coast, Cape, and Islands, which complicates compactness scores.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5486400" cy="228600"/>
          </a:xfrm>
          <a:prstGeom prst="rect">
            <a:avLst/>
          </a:prstGeom>
          <a:noFill/>
        </p:spPr>
        <p:txBody>
          <a:bodyPr wrap="square" anchor="t" lIns="18288" rIns="18288" tIns="9144" bIns="9144">
            <a:noAutofit/>
          </a:bodyPr>
          <a:lstStyle/>
          <a:p>
            <a:pPr algn="l">
              <a:lnSpc>
                <a:spcPct val="103000"/>
              </a:lnSpc>
            </a:pPr>
            <a:r>
              <a:rPr sz="1100" b="1">
                <a:solidFill>
                  <a:srgbClr val="2075BE"/>
                </a:solidFill>
                <a:latin typeface="Aptos"/>
              </a:rPr>
              <a:t>MAUP PIPELINE</a:t>
            </a:r>
          </a:p>
        </p:txBody>
      </p:sp>
      <p:sp>
        <p:nvSpPr>
          <p:cNvPr id="3" name="TextBox 2"/>
          <p:cNvSpPr txBox="1"/>
          <p:nvPr/>
        </p:nvSpPr>
        <p:spPr>
          <a:xfrm>
            <a:off x="411480" y="502920"/>
            <a:ext cx="11155680" cy="502920"/>
          </a:xfrm>
          <a:prstGeom prst="rect">
            <a:avLst/>
          </a:prstGeom>
          <a:noFill/>
        </p:spPr>
        <p:txBody>
          <a:bodyPr wrap="square" anchor="t" lIns="18288" rIns="18288" tIns="9144" bIns="9144">
            <a:noAutofit/>
          </a:bodyPr>
          <a:lstStyle/>
          <a:p>
            <a:pPr algn="l">
              <a:lnSpc>
                <a:spcPct val="103000"/>
              </a:lnSpc>
            </a:pPr>
            <a:r>
              <a:rPr sz="3000" b="1">
                <a:solidFill>
                  <a:srgbClr val="183D66"/>
                </a:solidFill>
                <a:latin typeface="Aptos Display"/>
              </a:rPr>
              <a:t>Data cleaning: making the map usable</a:t>
            </a:r>
          </a:p>
        </p:txBody>
      </p:sp>
      <p:sp>
        <p:nvSpPr>
          <p:cNvPr id="4" name="Rectangle 3"/>
          <p:cNvSpPr/>
          <p:nvPr/>
        </p:nvSpPr>
        <p:spPr>
          <a:xfrm>
            <a:off x="411480" y="1060704"/>
            <a:ext cx="11292840" cy="18288"/>
          </a:xfrm>
          <a:prstGeom prst="rect">
            <a:avLst/>
          </a:prstGeom>
          <a:solidFill>
            <a:srgbClr val="C8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325880"/>
            <a:ext cx="10515600" cy="731520"/>
          </a:xfrm>
          <a:prstGeom prst="rect">
            <a:avLst/>
          </a:prstGeom>
          <a:noFill/>
        </p:spPr>
        <p:txBody>
          <a:bodyPr wrap="square" anchor="t" lIns="18288" rIns="18288" tIns="9144" bIns="9144">
            <a:noAutofit/>
          </a:bodyPr>
          <a:lstStyle/>
          <a:p>
            <a:pPr algn="l">
              <a:lnSpc>
                <a:spcPct val="103000"/>
              </a:lnSpc>
            </a:pPr>
            <a:r>
              <a:rPr sz="2200" b="0">
                <a:solidFill>
                  <a:srgbClr val="1C2330"/>
                </a:solidFill>
                <a:latin typeface="Aptos"/>
              </a:rPr>
              <a:t>Before running GerryChain, we had to turn messy real-world files into one clean precinct graph. Each precinct needed population, election data, and correct neighbor connections.</a:t>
            </a:r>
          </a:p>
        </p:txBody>
      </p:sp>
      <p:sp>
        <p:nvSpPr>
          <p:cNvPr id="6" name="TextBox 5"/>
          <p:cNvSpPr txBox="1"/>
          <p:nvPr/>
        </p:nvSpPr>
        <p:spPr>
          <a:xfrm>
            <a:off x="685800" y="2423160"/>
            <a:ext cx="2103120" cy="329184"/>
          </a:xfrm>
          <a:prstGeom prst="rect">
            <a:avLst/>
          </a:prstGeom>
          <a:noFill/>
        </p:spPr>
        <p:txBody>
          <a:bodyPr wrap="square" anchor="t" lIns="18288" rIns="18288" tIns="9144" bIns="9144">
            <a:noAutofit/>
          </a:bodyPr>
          <a:lstStyle/>
          <a:p>
            <a:pPr algn="ctr">
              <a:lnSpc>
                <a:spcPct val="103000"/>
              </a:lnSpc>
            </a:pPr>
            <a:r>
              <a:rPr sz="2300" b="1">
                <a:solidFill>
                  <a:srgbClr val="183D66"/>
                </a:solidFill>
                <a:latin typeface="Aptos"/>
              </a:rPr>
              <a:t>107,278</a:t>
            </a:r>
          </a:p>
        </p:txBody>
      </p:sp>
      <p:sp>
        <p:nvSpPr>
          <p:cNvPr id="7" name="TextBox 6"/>
          <p:cNvSpPr txBox="1"/>
          <p:nvPr/>
        </p:nvSpPr>
        <p:spPr>
          <a:xfrm>
            <a:off x="685800" y="2798064"/>
            <a:ext cx="2103120" cy="256032"/>
          </a:xfrm>
          <a:prstGeom prst="rect">
            <a:avLst/>
          </a:prstGeom>
          <a:noFill/>
        </p:spPr>
        <p:txBody>
          <a:bodyPr wrap="square" anchor="t" lIns="18288" rIns="18288" tIns="9144" bIns="9144">
            <a:noAutofit/>
          </a:bodyPr>
          <a:lstStyle/>
          <a:p>
            <a:pPr algn="ctr">
              <a:lnSpc>
                <a:spcPct val="103000"/>
              </a:lnSpc>
            </a:pPr>
            <a:r>
              <a:rPr sz="1100" b="0">
                <a:solidFill>
                  <a:srgbClr val="586577"/>
                </a:solidFill>
                <a:latin typeface="Aptos"/>
              </a:rPr>
              <a:t>census blocks assigned</a:t>
            </a:r>
          </a:p>
        </p:txBody>
      </p:sp>
      <p:sp>
        <p:nvSpPr>
          <p:cNvPr id="8" name="TextBox 7"/>
          <p:cNvSpPr txBox="1"/>
          <p:nvPr/>
        </p:nvSpPr>
        <p:spPr>
          <a:xfrm>
            <a:off x="2926080" y="2423160"/>
            <a:ext cx="2103120" cy="329184"/>
          </a:xfrm>
          <a:prstGeom prst="rect">
            <a:avLst/>
          </a:prstGeom>
          <a:noFill/>
        </p:spPr>
        <p:txBody>
          <a:bodyPr wrap="square" anchor="t" lIns="18288" rIns="18288" tIns="9144" bIns="9144">
            <a:noAutofit/>
          </a:bodyPr>
          <a:lstStyle/>
          <a:p>
            <a:pPr algn="ctr">
              <a:lnSpc>
                <a:spcPct val="103000"/>
              </a:lnSpc>
            </a:pPr>
            <a:r>
              <a:rPr sz="2300" b="1">
                <a:solidFill>
                  <a:srgbClr val="183D66"/>
                </a:solidFill>
                <a:latin typeface="Aptos"/>
              </a:rPr>
              <a:t>2,383</a:t>
            </a:r>
          </a:p>
        </p:txBody>
      </p:sp>
      <p:sp>
        <p:nvSpPr>
          <p:cNvPr id="9" name="TextBox 8"/>
          <p:cNvSpPr txBox="1"/>
          <p:nvPr/>
        </p:nvSpPr>
        <p:spPr>
          <a:xfrm>
            <a:off x="2926080" y="2798064"/>
            <a:ext cx="2103120" cy="256032"/>
          </a:xfrm>
          <a:prstGeom prst="rect">
            <a:avLst/>
          </a:prstGeom>
          <a:noFill/>
        </p:spPr>
        <p:txBody>
          <a:bodyPr wrap="square" anchor="t" lIns="18288" rIns="18288" tIns="9144" bIns="9144">
            <a:noAutofit/>
          </a:bodyPr>
          <a:lstStyle/>
          <a:p>
            <a:pPr algn="ctr">
              <a:lnSpc>
                <a:spcPct val="103000"/>
              </a:lnSpc>
            </a:pPr>
            <a:r>
              <a:rPr sz="1100" b="0">
                <a:solidFill>
                  <a:srgbClr val="586577"/>
                </a:solidFill>
                <a:latin typeface="Aptos"/>
              </a:rPr>
              <a:t>precinct nodes</a:t>
            </a:r>
          </a:p>
        </p:txBody>
      </p:sp>
      <p:sp>
        <p:nvSpPr>
          <p:cNvPr id="10" name="TextBox 9"/>
          <p:cNvSpPr txBox="1"/>
          <p:nvPr/>
        </p:nvSpPr>
        <p:spPr>
          <a:xfrm>
            <a:off x="5166360" y="2423160"/>
            <a:ext cx="2103120" cy="329184"/>
          </a:xfrm>
          <a:prstGeom prst="rect">
            <a:avLst/>
          </a:prstGeom>
          <a:noFill/>
        </p:spPr>
        <p:txBody>
          <a:bodyPr wrap="square" anchor="t" lIns="18288" rIns="18288" tIns="9144" bIns="9144">
            <a:noAutofit/>
          </a:bodyPr>
          <a:lstStyle/>
          <a:p>
            <a:pPr algn="ctr">
              <a:lnSpc>
                <a:spcPct val="103000"/>
              </a:lnSpc>
            </a:pPr>
            <a:r>
              <a:rPr sz="2300" b="1">
                <a:solidFill>
                  <a:srgbClr val="183D66"/>
                </a:solidFill>
                <a:latin typeface="Aptos"/>
              </a:rPr>
              <a:t>7,029,917</a:t>
            </a:r>
          </a:p>
        </p:txBody>
      </p:sp>
      <p:sp>
        <p:nvSpPr>
          <p:cNvPr id="11" name="TextBox 10"/>
          <p:cNvSpPr txBox="1"/>
          <p:nvPr/>
        </p:nvSpPr>
        <p:spPr>
          <a:xfrm>
            <a:off x="5166360" y="2798064"/>
            <a:ext cx="2103120" cy="256032"/>
          </a:xfrm>
          <a:prstGeom prst="rect">
            <a:avLst/>
          </a:prstGeom>
          <a:noFill/>
        </p:spPr>
        <p:txBody>
          <a:bodyPr wrap="square" anchor="t" lIns="18288" rIns="18288" tIns="9144" bIns="9144">
            <a:noAutofit/>
          </a:bodyPr>
          <a:lstStyle/>
          <a:p>
            <a:pPr algn="ctr">
              <a:lnSpc>
                <a:spcPct val="103000"/>
              </a:lnSpc>
            </a:pPr>
            <a:r>
              <a:rPr sz="1100" b="0">
                <a:solidFill>
                  <a:srgbClr val="586577"/>
                </a:solidFill>
                <a:latin typeface="Aptos"/>
              </a:rPr>
              <a:t>population preserved</a:t>
            </a:r>
          </a:p>
        </p:txBody>
      </p:sp>
      <p:sp>
        <p:nvSpPr>
          <p:cNvPr id="12" name="TextBox 11"/>
          <p:cNvSpPr txBox="1"/>
          <p:nvPr/>
        </p:nvSpPr>
        <p:spPr>
          <a:xfrm>
            <a:off x="7543800" y="2423160"/>
            <a:ext cx="2103120" cy="329184"/>
          </a:xfrm>
          <a:prstGeom prst="rect">
            <a:avLst/>
          </a:prstGeom>
          <a:noFill/>
        </p:spPr>
        <p:txBody>
          <a:bodyPr wrap="square" anchor="t" lIns="18288" rIns="18288" tIns="9144" bIns="9144">
            <a:noAutofit/>
          </a:bodyPr>
          <a:lstStyle/>
          <a:p>
            <a:pPr algn="ctr">
              <a:lnSpc>
                <a:spcPct val="103000"/>
              </a:lnSpc>
            </a:pPr>
            <a:r>
              <a:rPr sz="2300" b="1">
                <a:solidFill>
                  <a:srgbClr val="BE2337"/>
                </a:solidFill>
                <a:latin typeface="Aptos"/>
              </a:rPr>
              <a:t>True</a:t>
            </a:r>
          </a:p>
        </p:txBody>
      </p:sp>
      <p:sp>
        <p:nvSpPr>
          <p:cNvPr id="13" name="TextBox 12"/>
          <p:cNvSpPr txBox="1"/>
          <p:nvPr/>
        </p:nvSpPr>
        <p:spPr>
          <a:xfrm>
            <a:off x="7543800" y="2798064"/>
            <a:ext cx="2103120" cy="256032"/>
          </a:xfrm>
          <a:prstGeom prst="rect">
            <a:avLst/>
          </a:prstGeom>
          <a:noFill/>
        </p:spPr>
        <p:txBody>
          <a:bodyPr wrap="square" anchor="t" lIns="18288" rIns="18288" tIns="9144" bIns="9144">
            <a:noAutofit/>
          </a:bodyPr>
          <a:lstStyle/>
          <a:p>
            <a:pPr algn="ctr">
              <a:lnSpc>
                <a:spcPct val="103000"/>
              </a:lnSpc>
            </a:pPr>
            <a:r>
              <a:rPr sz="1100" b="0">
                <a:solidFill>
                  <a:srgbClr val="586577"/>
                </a:solidFill>
                <a:latin typeface="Aptos"/>
              </a:rPr>
              <a:t>maup.doctor check</a:t>
            </a:r>
          </a:p>
        </p:txBody>
      </p:sp>
      <p:sp>
        <p:nvSpPr>
          <p:cNvPr id="14" name="TextBox 13"/>
          <p:cNvSpPr txBox="1"/>
          <p:nvPr/>
        </p:nvSpPr>
        <p:spPr>
          <a:xfrm>
            <a:off x="685800" y="3749039"/>
            <a:ext cx="3291840" cy="292608"/>
          </a:xfrm>
          <a:prstGeom prst="rect">
            <a:avLst/>
          </a:prstGeom>
          <a:noFill/>
        </p:spPr>
        <p:txBody>
          <a:bodyPr wrap="square" anchor="t" lIns="18288" rIns="18288" tIns="9144" bIns="9144">
            <a:noAutofit/>
          </a:bodyPr>
          <a:lstStyle/>
          <a:p>
            <a:pPr algn="l">
              <a:lnSpc>
                <a:spcPct val="103000"/>
              </a:lnSpc>
            </a:pPr>
            <a:r>
              <a:rPr sz="2100" b="1">
                <a:solidFill>
                  <a:srgbClr val="183D66"/>
                </a:solidFill>
                <a:latin typeface="Aptos Display"/>
              </a:rPr>
              <a:t>What we cleaned</a:t>
            </a:r>
          </a:p>
        </p:txBody>
      </p:sp>
      <p:sp>
        <p:nvSpPr>
          <p:cNvPr id="15" name="TextBox 14"/>
          <p:cNvSpPr txBox="1"/>
          <p:nvPr/>
        </p:nvSpPr>
        <p:spPr>
          <a:xfrm>
            <a:off x="685800" y="4114800"/>
            <a:ext cx="5120640" cy="1371600"/>
          </a:xfrm>
          <a:prstGeom prst="rect">
            <a:avLst/>
          </a:prstGeom>
          <a:noFill/>
        </p:spPr>
        <p:txBody>
          <a:bodyPr wrap="square" anchor="t" lIns="18288" rIns="18288" tIns="9144" bIns="9144">
            <a:noAutofit/>
          </a:bodyPr>
          <a:lstStyle/>
          <a:p>
            <a:pPr>
              <a:lnSpc>
                <a:spcPct val="105000"/>
              </a:lnSpc>
              <a:defRPr sz="2000">
                <a:solidFill>
                  <a:srgbClr val="1C2330"/>
                </a:solidFill>
                <a:latin typeface="Aptos"/>
              </a:defRPr>
            </a:pPr>
            <a:r>
              <a:t>• Reprojected the files so they lined up.</a:t>
            </a:r>
          </a:p>
          <a:p>
            <a:pPr>
              <a:lnSpc>
                <a:spcPct val="105000"/>
              </a:lnSpc>
              <a:defRPr sz="2000">
                <a:solidFill>
                  <a:srgbClr val="1C2330"/>
                </a:solidFill>
                <a:latin typeface="Aptos"/>
              </a:defRPr>
            </a:pPr>
            <a:r>
              <a:t>• Fixed tiny gaps, overlaps, and invalid geometries.</a:t>
            </a:r>
          </a:p>
          <a:p>
            <a:pPr>
              <a:lnSpc>
                <a:spcPct val="105000"/>
              </a:lnSpc>
              <a:defRPr sz="2000">
                <a:solidFill>
                  <a:srgbClr val="1C2330"/>
                </a:solidFill>
                <a:latin typeface="Aptos"/>
              </a:defRPr>
            </a:pPr>
            <a:r>
              <a:t>• Added/cleaned neighbor connections for the graph.</a:t>
            </a:r>
          </a:p>
        </p:txBody>
      </p:sp>
      <p:sp>
        <p:nvSpPr>
          <p:cNvPr id="16" name="TextBox 15"/>
          <p:cNvSpPr txBox="1"/>
          <p:nvPr/>
        </p:nvSpPr>
        <p:spPr>
          <a:xfrm>
            <a:off x="6172200" y="3749039"/>
            <a:ext cx="3474720" cy="292608"/>
          </a:xfrm>
          <a:prstGeom prst="rect">
            <a:avLst/>
          </a:prstGeom>
          <a:noFill/>
        </p:spPr>
        <p:txBody>
          <a:bodyPr wrap="square" anchor="t" lIns="18288" rIns="18288" tIns="9144" bIns="9144">
            <a:noAutofit/>
          </a:bodyPr>
          <a:lstStyle/>
          <a:p>
            <a:pPr algn="l">
              <a:lnSpc>
                <a:spcPct val="103000"/>
              </a:lnSpc>
            </a:pPr>
            <a:r>
              <a:rPr sz="2100" b="1">
                <a:solidFill>
                  <a:srgbClr val="183D66"/>
                </a:solidFill>
                <a:latin typeface="Aptos Display"/>
              </a:rPr>
              <a:t>Why this matters</a:t>
            </a:r>
          </a:p>
        </p:txBody>
      </p:sp>
      <p:sp>
        <p:nvSpPr>
          <p:cNvPr id="17" name="TextBox 16"/>
          <p:cNvSpPr txBox="1"/>
          <p:nvPr/>
        </p:nvSpPr>
        <p:spPr>
          <a:xfrm>
            <a:off x="6172200" y="4114800"/>
            <a:ext cx="4937760" cy="1143000"/>
          </a:xfrm>
          <a:prstGeom prst="rect">
            <a:avLst/>
          </a:prstGeom>
          <a:noFill/>
        </p:spPr>
        <p:txBody>
          <a:bodyPr wrap="square" anchor="t" lIns="18288" rIns="18288" tIns="9144" bIns="9144">
            <a:noAutofit/>
          </a:bodyPr>
          <a:lstStyle/>
          <a:p>
            <a:pPr>
              <a:lnSpc>
                <a:spcPct val="105000"/>
              </a:lnSpc>
              <a:defRPr sz="2000">
                <a:solidFill>
                  <a:srgbClr val="1C2330"/>
                </a:solidFill>
                <a:latin typeface="Aptos"/>
              </a:defRPr>
            </a:pPr>
            <a:r>
              <a:t>• Wrong population or broken graph connections would make the ensemble unreliable.</a:t>
            </a:r>
          </a:p>
          <a:p>
            <a:pPr>
              <a:lnSpc>
                <a:spcPct val="105000"/>
              </a:lnSpc>
              <a:defRPr sz="2000">
                <a:solidFill>
                  <a:srgbClr val="1C2330"/>
                </a:solidFill>
                <a:latin typeface="Aptos"/>
              </a:defRPr>
            </a:pPr>
            <a:r>
              <a:t>• This step makes the ReCom comparison meaningful.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5486400" cy="228600"/>
          </a:xfrm>
          <a:prstGeom prst="rect">
            <a:avLst/>
          </a:prstGeom>
          <a:noFill/>
        </p:spPr>
        <p:txBody>
          <a:bodyPr wrap="square" anchor="t" lIns="18288" rIns="18288" tIns="9144" bIns="9144">
            <a:noAutofit/>
          </a:bodyPr>
          <a:lstStyle/>
          <a:p>
            <a:pPr algn="l">
              <a:lnSpc>
                <a:spcPct val="103000"/>
              </a:lnSpc>
            </a:pPr>
            <a:r>
              <a:rPr sz="1100" b="1">
                <a:solidFill>
                  <a:srgbClr val="2075BE"/>
                </a:solidFill>
                <a:latin typeface="Aptos"/>
              </a:rPr>
              <a:t>RECOM ANALYSIS</a:t>
            </a:r>
          </a:p>
        </p:txBody>
      </p:sp>
      <p:sp>
        <p:nvSpPr>
          <p:cNvPr id="3" name="TextBox 2"/>
          <p:cNvSpPr txBox="1"/>
          <p:nvPr/>
        </p:nvSpPr>
        <p:spPr>
          <a:xfrm>
            <a:off x="411480" y="502920"/>
            <a:ext cx="11155680" cy="502920"/>
          </a:xfrm>
          <a:prstGeom prst="rect">
            <a:avLst/>
          </a:prstGeom>
          <a:noFill/>
        </p:spPr>
        <p:txBody>
          <a:bodyPr wrap="square" anchor="t" lIns="18288" rIns="18288" tIns="9144" bIns="9144">
            <a:noAutofit/>
          </a:bodyPr>
          <a:lstStyle/>
          <a:p>
            <a:pPr algn="l">
              <a:lnSpc>
                <a:spcPct val="103000"/>
              </a:lnSpc>
            </a:pPr>
            <a:r>
              <a:rPr sz="3000" b="1">
                <a:solidFill>
                  <a:srgbClr val="183D66"/>
                </a:solidFill>
                <a:latin typeface="Aptos Display"/>
              </a:rPr>
              <a:t>Ensemble method and parameter choices</a:t>
            </a:r>
          </a:p>
        </p:txBody>
      </p:sp>
      <p:sp>
        <p:nvSpPr>
          <p:cNvPr id="4" name="Rectangle 3"/>
          <p:cNvSpPr/>
          <p:nvPr/>
        </p:nvSpPr>
        <p:spPr>
          <a:xfrm>
            <a:off x="411480" y="1060704"/>
            <a:ext cx="11292840" cy="18288"/>
          </a:xfrm>
          <a:prstGeom prst="rect">
            <a:avLst/>
          </a:prstGeom>
          <a:solidFill>
            <a:srgbClr val="C8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298448"/>
            <a:ext cx="10652760" cy="777240"/>
          </a:xfrm>
          <a:prstGeom prst="rect">
            <a:avLst/>
          </a:prstGeom>
          <a:noFill/>
        </p:spPr>
        <p:txBody>
          <a:bodyPr wrap="square" anchor="t" lIns="18288" rIns="18288" tIns="9144" bIns="9144">
            <a:noAutofit/>
          </a:bodyPr>
          <a:lstStyle/>
          <a:p>
            <a:pPr algn="l">
              <a:lnSpc>
                <a:spcPct val="103000"/>
              </a:lnSpc>
            </a:pPr>
            <a:r>
              <a:rPr sz="2200" b="0">
                <a:solidFill>
                  <a:srgbClr val="1C2330"/>
                </a:solidFill>
                <a:latin typeface="Aptos"/>
              </a:rPr>
              <a:t>ReCom creates comparison maps by merging two neighboring districts and splitting them back into two population-balanced districts. Repeating this gives us many reasonable maps to compare with the enacted map.</a:t>
            </a:r>
          </a:p>
        </p:txBody>
      </p:sp>
      <p:sp>
        <p:nvSpPr>
          <p:cNvPr id="6" name="TextBox 5"/>
          <p:cNvSpPr txBox="1"/>
          <p:nvPr/>
        </p:nvSpPr>
        <p:spPr>
          <a:xfrm>
            <a:off x="685800" y="2560320"/>
            <a:ext cx="3840480" cy="292608"/>
          </a:xfrm>
          <a:prstGeom prst="rect">
            <a:avLst/>
          </a:prstGeom>
          <a:noFill/>
        </p:spPr>
        <p:txBody>
          <a:bodyPr wrap="square" anchor="t" lIns="18288" rIns="18288" tIns="9144" bIns="9144">
            <a:noAutofit/>
          </a:bodyPr>
          <a:lstStyle/>
          <a:p>
            <a:pPr algn="l">
              <a:lnSpc>
                <a:spcPct val="103000"/>
              </a:lnSpc>
            </a:pPr>
            <a:r>
              <a:rPr sz="2100" b="1">
                <a:solidFill>
                  <a:srgbClr val="183D66"/>
                </a:solidFill>
                <a:latin typeface="Aptos Display"/>
              </a:rPr>
              <a:t>Main settings</a:t>
            </a:r>
          </a:p>
        </p:txBody>
      </p:sp>
      <p:sp>
        <p:nvSpPr>
          <p:cNvPr id="7" name="TextBox 6"/>
          <p:cNvSpPr txBox="1"/>
          <p:nvPr/>
        </p:nvSpPr>
        <p:spPr>
          <a:xfrm>
            <a:off x="685800" y="2926080"/>
            <a:ext cx="5257800" cy="1965960"/>
          </a:xfrm>
          <a:prstGeom prst="rect">
            <a:avLst/>
          </a:prstGeom>
          <a:noFill/>
        </p:spPr>
        <p:txBody>
          <a:bodyPr wrap="square" anchor="t" lIns="18288" rIns="18288" tIns="9144" bIns="9144">
            <a:noAutofit/>
          </a:bodyPr>
          <a:lstStyle/>
          <a:p>
            <a:pPr>
              <a:lnSpc>
                <a:spcPct val="105000"/>
              </a:lnSpc>
              <a:defRPr sz="1900">
                <a:solidFill>
                  <a:srgbClr val="1C2330"/>
                </a:solidFill>
                <a:latin typeface="Aptos"/>
              </a:defRPr>
            </a:pPr>
            <a:r>
              <a:t>• Population tolerance: ±2%, so districts stay close in size.</a:t>
            </a:r>
          </a:p>
          <a:p>
            <a:pPr>
              <a:lnSpc>
                <a:spcPct val="105000"/>
              </a:lnSpc>
              <a:defRPr sz="1900">
                <a:solidFill>
                  <a:srgbClr val="1C2330"/>
                </a:solidFill>
                <a:latin typeface="Aptos"/>
              </a:defRPr>
            </a:pPr>
            <a:r>
              <a:t>• Node repeats: 2, matching the simple class-style setup.</a:t>
            </a:r>
          </a:p>
          <a:p>
            <a:pPr>
              <a:lnSpc>
                <a:spcPct val="105000"/>
              </a:lnSpc>
              <a:defRPr sz="1900">
                <a:solidFill>
                  <a:srgbClr val="1C2330"/>
                </a:solidFill>
                <a:latin typeface="Aptos"/>
              </a:defRPr>
            </a:pPr>
            <a:r>
              <a:t>• Compactness bound: no plan can exceed 2× the enacted map’s cut edges.</a:t>
            </a:r>
          </a:p>
          <a:p>
            <a:pPr>
              <a:lnSpc>
                <a:spcPct val="105000"/>
              </a:lnSpc>
              <a:defRPr sz="1900">
                <a:solidFill>
                  <a:srgbClr val="1C2330"/>
                </a:solidFill>
                <a:latin typeface="Aptos"/>
              </a:defRPr>
            </a:pPr>
            <a:r>
              <a:t>• Election data: 2024 President and 2024 U.S. Senate.</a:t>
            </a:r>
          </a:p>
        </p:txBody>
      </p:sp>
      <p:sp>
        <p:nvSpPr>
          <p:cNvPr id="8" name="TextBox 7"/>
          <p:cNvSpPr txBox="1"/>
          <p:nvPr/>
        </p:nvSpPr>
        <p:spPr>
          <a:xfrm>
            <a:off x="6400800" y="2560320"/>
            <a:ext cx="4846320" cy="292608"/>
          </a:xfrm>
          <a:prstGeom prst="rect">
            <a:avLst/>
          </a:prstGeom>
          <a:noFill/>
        </p:spPr>
        <p:txBody>
          <a:bodyPr wrap="square" anchor="t" lIns="18288" rIns="18288" tIns="9144" bIns="9144">
            <a:noAutofit/>
          </a:bodyPr>
          <a:lstStyle/>
          <a:p>
            <a:pPr algn="l">
              <a:lnSpc>
                <a:spcPct val="103000"/>
              </a:lnSpc>
            </a:pPr>
            <a:r>
              <a:rPr sz="2100" b="1">
                <a:solidFill>
                  <a:srgbClr val="183D66"/>
                </a:solidFill>
                <a:latin typeface="Aptos Display"/>
              </a:rPr>
              <a:t>Why this matters for Massachusetts</a:t>
            </a:r>
          </a:p>
        </p:txBody>
      </p:sp>
      <p:sp>
        <p:nvSpPr>
          <p:cNvPr id="9" name="TextBox 8"/>
          <p:cNvSpPr txBox="1"/>
          <p:nvPr/>
        </p:nvSpPr>
        <p:spPr>
          <a:xfrm>
            <a:off x="6400800" y="2926080"/>
            <a:ext cx="4800600" cy="1600200"/>
          </a:xfrm>
          <a:prstGeom prst="rect">
            <a:avLst/>
          </a:prstGeom>
          <a:noFill/>
        </p:spPr>
        <p:txBody>
          <a:bodyPr wrap="square" anchor="t" lIns="18288" rIns="18288" tIns="9144" bIns="9144">
            <a:noAutofit/>
          </a:bodyPr>
          <a:lstStyle/>
          <a:p>
            <a:pPr>
              <a:lnSpc>
                <a:spcPct val="105000"/>
              </a:lnSpc>
              <a:defRPr sz="1900">
                <a:solidFill>
                  <a:srgbClr val="1C2330"/>
                </a:solidFill>
                <a:latin typeface="Aptos"/>
              </a:defRPr>
            </a:pPr>
            <a:r>
              <a:t>• Massachusetts is already blue, so raw seat count is not enough.</a:t>
            </a:r>
          </a:p>
          <a:p>
            <a:pPr>
              <a:lnSpc>
                <a:spcPct val="105000"/>
              </a:lnSpc>
              <a:defRPr sz="1900">
                <a:solidFill>
                  <a:srgbClr val="1C2330"/>
                </a:solidFill>
                <a:latin typeface="Aptos"/>
              </a:defRPr>
            </a:pPr>
            <a:r>
              <a:t>• The ensemble gives us a fair “what else could MA have looked like?” baseline.</a:t>
            </a:r>
          </a:p>
          <a:p>
            <a:pPr>
              <a:lnSpc>
                <a:spcPct val="105000"/>
              </a:lnSpc>
              <a:defRPr sz="1900">
                <a:solidFill>
                  <a:srgbClr val="1C2330"/>
                </a:solidFill>
                <a:latin typeface="Aptos"/>
              </a:defRPr>
            </a:pPr>
            <a:r>
              <a:t>• The 20k and 40k runs check that the result is stable.</a:t>
            </a:r>
          </a:p>
        </p:txBody>
      </p:sp>
      <p:sp>
        <p:nvSpPr>
          <p:cNvPr id="10" name="TextBox 9"/>
          <p:cNvSpPr txBox="1"/>
          <p:nvPr/>
        </p:nvSpPr>
        <p:spPr>
          <a:xfrm>
            <a:off x="685800" y="5623560"/>
            <a:ext cx="10332720" cy="411480"/>
          </a:xfrm>
          <a:prstGeom prst="rect">
            <a:avLst/>
          </a:prstGeom>
          <a:noFill/>
        </p:spPr>
        <p:txBody>
          <a:bodyPr wrap="square" anchor="t" lIns="18288" rIns="18288" tIns="9144" bIns="9144">
            <a:noAutofit/>
          </a:bodyPr>
          <a:lstStyle/>
          <a:p>
            <a:pPr algn="l">
              <a:lnSpc>
                <a:spcPct val="103000"/>
              </a:lnSpc>
            </a:pPr>
            <a:r>
              <a:rPr sz="1800" b="1">
                <a:solidFill>
                  <a:srgbClr val="BE2337"/>
                </a:solidFill>
                <a:latin typeface="Aptos"/>
              </a:rPr>
              <a:t>Main idea: ReCom is our comparison set, not a prediction of one perfect map.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5486400" cy="228600"/>
          </a:xfrm>
          <a:prstGeom prst="rect">
            <a:avLst/>
          </a:prstGeom>
          <a:noFill/>
        </p:spPr>
        <p:txBody>
          <a:bodyPr wrap="square" anchor="t" lIns="18288" rIns="18288" tIns="9144" bIns="9144">
            <a:noAutofit/>
          </a:bodyPr>
          <a:lstStyle/>
          <a:p>
            <a:pPr algn="l">
              <a:lnSpc>
                <a:spcPct val="102000"/>
              </a:lnSpc>
            </a:pPr>
            <a:r>
              <a:rPr sz="1100" b="1">
                <a:solidFill>
                  <a:srgbClr val="2075BE"/>
                </a:solidFill>
                <a:latin typeface="Aptos"/>
              </a:rPr>
              <a:t>CHAIN LENGTH</a:t>
            </a:r>
          </a:p>
        </p:txBody>
      </p:sp>
      <p:sp>
        <p:nvSpPr>
          <p:cNvPr id="3" name="TextBox 2"/>
          <p:cNvSpPr txBox="1"/>
          <p:nvPr/>
        </p:nvSpPr>
        <p:spPr>
          <a:xfrm>
            <a:off x="411480" y="530352"/>
            <a:ext cx="11155680" cy="502920"/>
          </a:xfrm>
          <a:prstGeom prst="rect">
            <a:avLst/>
          </a:prstGeom>
          <a:noFill/>
        </p:spPr>
        <p:txBody>
          <a:bodyPr wrap="square" anchor="t" lIns="18288" rIns="18288" tIns="9144" bIns="9144">
            <a:noAutofit/>
          </a:bodyPr>
          <a:lstStyle/>
          <a:p>
            <a:pPr algn="l">
              <a:lnSpc>
                <a:spcPct val="102000"/>
              </a:lnSpc>
            </a:pPr>
            <a:r>
              <a:rPr sz="3200" b="1">
                <a:solidFill>
                  <a:srgbClr val="183D66"/>
                </a:solidFill>
                <a:latin typeface="Aptos Display"/>
              </a:rPr>
              <a:t>Convergence check: 20k vs 40k</a:t>
            </a:r>
          </a:p>
        </p:txBody>
      </p:sp>
      <p:sp>
        <p:nvSpPr>
          <p:cNvPr id="4" name="Rectangle 3"/>
          <p:cNvSpPr/>
          <p:nvPr/>
        </p:nvSpPr>
        <p:spPr>
          <a:xfrm>
            <a:off x="411480" y="1078992"/>
            <a:ext cx="11292840" cy="16459"/>
          </a:xfrm>
          <a:prstGeom prst="rect">
            <a:avLst/>
          </a:prstGeom>
          <a:solidFill>
            <a:srgbClr val="C8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1"/>
          <a:stretch>
            <a:fillRect/>
          </a:stretch>
        </p:blipFill>
        <p:spPr>
          <a:xfrm>
            <a:off x="502920" y="1417320"/>
            <a:ext cx="6080760" cy="3794760"/>
          </a:xfrm>
          <a:prstGeom prst="rect">
            <a:avLst/>
          </a:prstGeom>
        </p:spPr>
      </p:pic>
      <p:sp>
        <p:nvSpPr>
          <p:cNvPr id="6" name="TextBox 5"/>
          <p:cNvSpPr txBox="1"/>
          <p:nvPr/>
        </p:nvSpPr>
        <p:spPr>
          <a:xfrm>
            <a:off x="6903720" y="1417320"/>
            <a:ext cx="4023360" cy="274320"/>
          </a:xfrm>
          <a:prstGeom prst="rect">
            <a:avLst/>
          </a:prstGeom>
          <a:noFill/>
        </p:spPr>
        <p:txBody>
          <a:bodyPr wrap="square" anchor="t" lIns="18288" rIns="18288" tIns="9144" bIns="9144">
            <a:noAutofit/>
          </a:bodyPr>
          <a:lstStyle/>
          <a:p>
            <a:pPr algn="l">
              <a:lnSpc>
                <a:spcPct val="102000"/>
              </a:lnSpc>
            </a:pPr>
            <a:r>
              <a:rPr sz="2200" b="1">
                <a:solidFill>
                  <a:srgbClr val="183D66"/>
                </a:solidFill>
                <a:latin typeface="Aptos Display"/>
              </a:rPr>
              <a:t>What we want to see</a:t>
            </a:r>
          </a:p>
        </p:txBody>
      </p:sp>
      <p:sp>
        <p:nvSpPr>
          <p:cNvPr id="7" name="TextBox 6"/>
          <p:cNvSpPr txBox="1"/>
          <p:nvPr/>
        </p:nvSpPr>
        <p:spPr>
          <a:xfrm>
            <a:off x="6903720" y="1783080"/>
            <a:ext cx="4297680" cy="1691640"/>
          </a:xfrm>
          <a:prstGeom prst="rect">
            <a:avLst/>
          </a:prstGeom>
          <a:noFill/>
        </p:spPr>
        <p:txBody>
          <a:bodyPr wrap="square" anchor="t" lIns="18288" rIns="18288" tIns="9144" bIns="9144">
            <a:noAutofit/>
          </a:bodyPr>
          <a:lstStyle/>
          <a:p>
            <a:pPr>
              <a:lnSpc>
                <a:spcPct val="103000"/>
              </a:lnSpc>
              <a:defRPr sz="2000">
                <a:solidFill>
                  <a:srgbClr val="1C2330"/>
                </a:solidFill>
                <a:latin typeface="Aptos"/>
              </a:defRPr>
            </a:pPr>
            <a:r>
              <a:t>• Running averages stop drifting after the early part of the chain.</a:t>
            </a:r>
          </a:p>
          <a:p>
            <a:pPr>
              <a:lnSpc>
                <a:spcPct val="103000"/>
              </a:lnSpc>
              <a:defRPr sz="2000">
                <a:solidFill>
                  <a:srgbClr val="1C2330"/>
                </a:solidFill>
                <a:latin typeface="Aptos"/>
              </a:defRPr>
            </a:pPr>
            <a:r>
              <a:t>• The 20k and 40k lines settle near the same value.</a:t>
            </a:r>
          </a:p>
          <a:p>
            <a:pPr>
              <a:lnSpc>
                <a:spcPct val="103000"/>
              </a:lnSpc>
              <a:defRPr sz="2000">
                <a:solidFill>
                  <a:srgbClr val="1C2330"/>
                </a:solidFill>
                <a:latin typeface="Aptos"/>
              </a:defRPr>
            </a:pPr>
            <a:r>
              <a:t>• Doubling the run improves confidence, but does not change the story.</a:t>
            </a:r>
          </a:p>
        </p:txBody>
      </p:sp>
      <p:sp>
        <p:nvSpPr>
          <p:cNvPr id="8" name="TextBox 7"/>
          <p:cNvSpPr txBox="1"/>
          <p:nvPr/>
        </p:nvSpPr>
        <p:spPr>
          <a:xfrm>
            <a:off x="6903720" y="3977639"/>
            <a:ext cx="3657600" cy="274320"/>
          </a:xfrm>
          <a:prstGeom prst="rect">
            <a:avLst/>
          </a:prstGeom>
          <a:noFill/>
        </p:spPr>
        <p:txBody>
          <a:bodyPr wrap="square" anchor="t" lIns="18288" rIns="18288" tIns="9144" bIns="9144">
            <a:noAutofit/>
          </a:bodyPr>
          <a:lstStyle/>
          <a:p>
            <a:pPr algn="l">
              <a:lnSpc>
                <a:spcPct val="102000"/>
              </a:lnSpc>
            </a:pPr>
            <a:r>
              <a:rPr sz="2200" b="1">
                <a:solidFill>
                  <a:srgbClr val="BE2337"/>
                </a:solidFill>
                <a:latin typeface="Aptos Display"/>
              </a:rPr>
              <a:t>Takeaway</a:t>
            </a:r>
          </a:p>
        </p:txBody>
      </p:sp>
      <p:sp>
        <p:nvSpPr>
          <p:cNvPr id="9" name="TextBox 8"/>
          <p:cNvSpPr txBox="1"/>
          <p:nvPr/>
        </p:nvSpPr>
        <p:spPr>
          <a:xfrm>
            <a:off x="6903720" y="4343400"/>
            <a:ext cx="4297680" cy="1005840"/>
          </a:xfrm>
          <a:prstGeom prst="rect">
            <a:avLst/>
          </a:prstGeom>
          <a:noFill/>
        </p:spPr>
        <p:txBody>
          <a:bodyPr wrap="square" anchor="t" lIns="18288" rIns="18288" tIns="9144" bIns="9144">
            <a:noAutofit/>
          </a:bodyPr>
          <a:lstStyle/>
          <a:p>
            <a:pPr algn="l">
              <a:lnSpc>
                <a:spcPct val="102000"/>
              </a:lnSpc>
            </a:pPr>
            <a:r>
              <a:rPr sz="2000" b="0">
                <a:solidFill>
                  <a:srgbClr val="1C2330"/>
                </a:solidFill>
                <a:latin typeface="Aptos"/>
              </a:rPr>
              <a:t>We use the 40k ensemble as the final comparison set. The 20k run already gives the same basic result, so the longer run mainly strengthens confidence.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5486400" cy="228600"/>
          </a:xfrm>
          <a:prstGeom prst="rect">
            <a:avLst/>
          </a:prstGeom>
          <a:noFill/>
        </p:spPr>
        <p:txBody>
          <a:bodyPr wrap="square" anchor="t" lIns="18288" rIns="18288" tIns="9144" bIns="9144">
            <a:noAutofit/>
          </a:bodyPr>
          <a:lstStyle/>
          <a:p>
            <a:pPr algn="l">
              <a:lnSpc>
                <a:spcPct val="102000"/>
              </a:lnSpc>
            </a:pPr>
            <a:r>
              <a:rPr sz="1100" b="1">
                <a:solidFill>
                  <a:srgbClr val="2075BE"/>
                </a:solidFill>
                <a:latin typeface="Aptos"/>
              </a:rPr>
              <a:t>ACTUAL MAP METRICS</a:t>
            </a:r>
          </a:p>
        </p:txBody>
      </p:sp>
      <p:sp>
        <p:nvSpPr>
          <p:cNvPr id="3" name="TextBox 2"/>
          <p:cNvSpPr txBox="1"/>
          <p:nvPr/>
        </p:nvSpPr>
        <p:spPr>
          <a:xfrm>
            <a:off x="411480" y="530352"/>
            <a:ext cx="11155680" cy="502920"/>
          </a:xfrm>
          <a:prstGeom prst="rect">
            <a:avLst/>
          </a:prstGeom>
          <a:noFill/>
        </p:spPr>
        <p:txBody>
          <a:bodyPr wrap="square" anchor="t" lIns="18288" rIns="18288" tIns="9144" bIns="9144">
            <a:noAutofit/>
          </a:bodyPr>
          <a:lstStyle/>
          <a:p>
            <a:pPr algn="l">
              <a:lnSpc>
                <a:spcPct val="102000"/>
              </a:lnSpc>
            </a:pPr>
            <a:r>
              <a:rPr sz="3100" b="1">
                <a:solidFill>
                  <a:srgbClr val="183D66"/>
                </a:solidFill>
                <a:latin typeface="Aptos Display"/>
              </a:rPr>
              <a:t>Actual Massachusetts map: comparison baseline</a:t>
            </a:r>
          </a:p>
        </p:txBody>
      </p:sp>
      <p:sp>
        <p:nvSpPr>
          <p:cNvPr id="4" name="Rectangle 3"/>
          <p:cNvSpPr/>
          <p:nvPr/>
        </p:nvSpPr>
        <p:spPr>
          <a:xfrm>
            <a:off x="411480" y="1078992"/>
            <a:ext cx="11292840" cy="16459"/>
          </a:xfrm>
          <a:prstGeom prst="rect">
            <a:avLst/>
          </a:prstGeom>
          <a:solidFill>
            <a:srgbClr val="C8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502920" y="1417320"/>
            <a:ext cx="5166360" cy="3977639"/>
          </a:xfrm>
          <a:prstGeom prst="rect">
            <a:avLst/>
          </a:prstGeom>
        </p:spPr>
      </p:pic>
      <p:sp>
        <p:nvSpPr>
          <p:cNvPr id="6" name="TextBox 5"/>
          <p:cNvSpPr txBox="1"/>
          <p:nvPr/>
        </p:nvSpPr>
        <p:spPr>
          <a:xfrm>
            <a:off x="6080760" y="1417320"/>
            <a:ext cx="2194560" cy="329184"/>
          </a:xfrm>
          <a:prstGeom prst="rect">
            <a:avLst/>
          </a:prstGeom>
          <a:noFill/>
        </p:spPr>
        <p:txBody>
          <a:bodyPr wrap="square" anchor="t" lIns="18288" rIns="18288" tIns="9144" bIns="9144">
            <a:noAutofit/>
          </a:bodyPr>
          <a:lstStyle/>
          <a:p>
            <a:pPr algn="ctr">
              <a:lnSpc>
                <a:spcPct val="102000"/>
              </a:lnSpc>
            </a:pPr>
            <a:r>
              <a:rPr sz="2300" b="1">
                <a:solidFill>
                  <a:srgbClr val="183D66"/>
                </a:solidFill>
                <a:latin typeface="Aptos"/>
              </a:rPr>
              <a:t>9 / 9</a:t>
            </a:r>
          </a:p>
        </p:txBody>
      </p:sp>
      <p:sp>
        <p:nvSpPr>
          <p:cNvPr id="7" name="TextBox 6"/>
          <p:cNvSpPr txBox="1"/>
          <p:nvPr/>
        </p:nvSpPr>
        <p:spPr>
          <a:xfrm>
            <a:off x="6080760" y="1801368"/>
            <a:ext cx="2194560" cy="301752"/>
          </a:xfrm>
          <a:prstGeom prst="rect">
            <a:avLst/>
          </a:prstGeom>
          <a:noFill/>
        </p:spPr>
        <p:txBody>
          <a:bodyPr wrap="square" anchor="t" lIns="18288" rIns="18288" tIns="9144" bIns="9144">
            <a:noAutofit/>
          </a:bodyPr>
          <a:lstStyle/>
          <a:p>
            <a:pPr algn="ctr">
              <a:lnSpc>
                <a:spcPct val="102000"/>
              </a:lnSpc>
            </a:pPr>
            <a:r>
              <a:rPr sz="1100" b="0">
                <a:solidFill>
                  <a:srgbClr val="586577"/>
                </a:solidFill>
                <a:latin typeface="Aptos"/>
              </a:rPr>
              <a:t>Democratic wins in both races</a:t>
            </a:r>
          </a:p>
        </p:txBody>
      </p:sp>
      <p:sp>
        <p:nvSpPr>
          <p:cNvPr id="8" name="TextBox 7"/>
          <p:cNvSpPr txBox="1"/>
          <p:nvPr/>
        </p:nvSpPr>
        <p:spPr>
          <a:xfrm>
            <a:off x="8823960" y="1417320"/>
            <a:ext cx="2103120" cy="329184"/>
          </a:xfrm>
          <a:prstGeom prst="rect">
            <a:avLst/>
          </a:prstGeom>
          <a:noFill/>
        </p:spPr>
        <p:txBody>
          <a:bodyPr wrap="square" anchor="t" lIns="18288" rIns="18288" tIns="9144" bIns="9144">
            <a:noAutofit/>
          </a:bodyPr>
          <a:lstStyle/>
          <a:p>
            <a:pPr algn="ctr">
              <a:lnSpc>
                <a:spcPct val="102000"/>
              </a:lnSpc>
            </a:pPr>
            <a:r>
              <a:rPr sz="2300" b="1">
                <a:solidFill>
                  <a:srgbClr val="BE2337"/>
                </a:solidFill>
                <a:latin typeface="Aptos"/>
              </a:rPr>
              <a:t>659</a:t>
            </a:r>
          </a:p>
        </p:txBody>
      </p:sp>
      <p:sp>
        <p:nvSpPr>
          <p:cNvPr id="9" name="TextBox 8"/>
          <p:cNvSpPr txBox="1"/>
          <p:nvPr/>
        </p:nvSpPr>
        <p:spPr>
          <a:xfrm>
            <a:off x="8823960" y="1801368"/>
            <a:ext cx="2103120" cy="301752"/>
          </a:xfrm>
          <a:prstGeom prst="rect">
            <a:avLst/>
          </a:prstGeom>
          <a:noFill/>
        </p:spPr>
        <p:txBody>
          <a:bodyPr wrap="square" anchor="t" lIns="18288" rIns="18288" tIns="9144" bIns="9144">
            <a:noAutofit/>
          </a:bodyPr>
          <a:lstStyle/>
          <a:p>
            <a:pPr algn="ctr">
              <a:lnSpc>
                <a:spcPct val="102000"/>
              </a:lnSpc>
            </a:pPr>
            <a:r>
              <a:rPr sz="1100" b="0">
                <a:solidFill>
                  <a:srgbClr val="586577"/>
                </a:solidFill>
                <a:latin typeface="Aptos"/>
              </a:rPr>
              <a:t>cut edges in enacted plan</a:t>
            </a:r>
          </a:p>
        </p:txBody>
      </p:sp>
      <p:sp>
        <p:nvSpPr>
          <p:cNvPr id="10" name="TextBox 9"/>
          <p:cNvSpPr txBox="1"/>
          <p:nvPr/>
        </p:nvSpPr>
        <p:spPr>
          <a:xfrm>
            <a:off x="6080760" y="2743200"/>
            <a:ext cx="2286000" cy="329184"/>
          </a:xfrm>
          <a:prstGeom prst="rect">
            <a:avLst/>
          </a:prstGeom>
          <a:noFill/>
        </p:spPr>
        <p:txBody>
          <a:bodyPr wrap="square" anchor="t" lIns="18288" rIns="18288" tIns="9144" bIns="9144">
            <a:noAutofit/>
          </a:bodyPr>
          <a:lstStyle/>
          <a:p>
            <a:pPr algn="ctr">
              <a:lnSpc>
                <a:spcPct val="102000"/>
              </a:lnSpc>
            </a:pPr>
            <a:r>
              <a:rPr sz="2300" b="1">
                <a:solidFill>
                  <a:srgbClr val="BE2337"/>
                </a:solidFill>
                <a:latin typeface="Aptos"/>
              </a:rPr>
              <a:t>−0.2409</a:t>
            </a:r>
          </a:p>
        </p:txBody>
      </p:sp>
      <p:sp>
        <p:nvSpPr>
          <p:cNvPr id="11" name="TextBox 10"/>
          <p:cNvSpPr txBox="1"/>
          <p:nvPr/>
        </p:nvSpPr>
        <p:spPr>
          <a:xfrm>
            <a:off x="6080760" y="3127248"/>
            <a:ext cx="2286000" cy="301752"/>
          </a:xfrm>
          <a:prstGeom prst="rect">
            <a:avLst/>
          </a:prstGeom>
          <a:noFill/>
        </p:spPr>
        <p:txBody>
          <a:bodyPr wrap="square" anchor="t" lIns="18288" rIns="18288" tIns="9144" bIns="9144">
            <a:noAutofit/>
          </a:bodyPr>
          <a:lstStyle/>
          <a:p>
            <a:pPr algn="ctr">
              <a:lnSpc>
                <a:spcPct val="102000"/>
              </a:lnSpc>
            </a:pPr>
            <a:r>
              <a:rPr sz="1100" b="0">
                <a:solidFill>
                  <a:srgbClr val="586577"/>
                </a:solidFill>
                <a:latin typeface="Aptos"/>
              </a:rPr>
              <a:t>Efficiency Gap, 2024 President</a:t>
            </a:r>
          </a:p>
        </p:txBody>
      </p:sp>
      <p:sp>
        <p:nvSpPr>
          <p:cNvPr id="12" name="TextBox 11"/>
          <p:cNvSpPr txBox="1"/>
          <p:nvPr/>
        </p:nvSpPr>
        <p:spPr>
          <a:xfrm>
            <a:off x="8823960" y="2743200"/>
            <a:ext cx="2286000" cy="329184"/>
          </a:xfrm>
          <a:prstGeom prst="rect">
            <a:avLst/>
          </a:prstGeom>
          <a:noFill/>
        </p:spPr>
        <p:txBody>
          <a:bodyPr wrap="square" anchor="t" lIns="18288" rIns="18288" tIns="9144" bIns="9144">
            <a:noAutofit/>
          </a:bodyPr>
          <a:lstStyle/>
          <a:p>
            <a:pPr algn="ctr">
              <a:lnSpc>
                <a:spcPct val="102000"/>
              </a:lnSpc>
            </a:pPr>
            <a:r>
              <a:rPr sz="2300" b="1">
                <a:solidFill>
                  <a:srgbClr val="BE2337"/>
                </a:solidFill>
                <a:latin typeface="Aptos"/>
              </a:rPr>
              <a:t>−0.3015</a:t>
            </a:r>
          </a:p>
        </p:txBody>
      </p:sp>
      <p:sp>
        <p:nvSpPr>
          <p:cNvPr id="13" name="TextBox 12"/>
          <p:cNvSpPr txBox="1"/>
          <p:nvPr/>
        </p:nvSpPr>
        <p:spPr>
          <a:xfrm>
            <a:off x="8823960" y="3127248"/>
            <a:ext cx="2286000" cy="301752"/>
          </a:xfrm>
          <a:prstGeom prst="rect">
            <a:avLst/>
          </a:prstGeom>
          <a:noFill/>
        </p:spPr>
        <p:txBody>
          <a:bodyPr wrap="square" anchor="t" lIns="18288" rIns="18288" tIns="9144" bIns="9144">
            <a:noAutofit/>
          </a:bodyPr>
          <a:lstStyle/>
          <a:p>
            <a:pPr algn="ctr">
              <a:lnSpc>
                <a:spcPct val="102000"/>
              </a:lnSpc>
            </a:pPr>
            <a:r>
              <a:rPr sz="1100" b="0">
                <a:solidFill>
                  <a:srgbClr val="586577"/>
                </a:solidFill>
                <a:latin typeface="Aptos"/>
              </a:rPr>
              <a:t>Efficiency Gap, 2024 Senate</a:t>
            </a:r>
          </a:p>
        </p:txBody>
      </p:sp>
      <p:sp>
        <p:nvSpPr>
          <p:cNvPr id="14" name="TextBox 13"/>
          <p:cNvSpPr txBox="1"/>
          <p:nvPr/>
        </p:nvSpPr>
        <p:spPr>
          <a:xfrm>
            <a:off x="6172200" y="4160520"/>
            <a:ext cx="4297680" cy="274320"/>
          </a:xfrm>
          <a:prstGeom prst="rect">
            <a:avLst/>
          </a:prstGeom>
          <a:noFill/>
        </p:spPr>
        <p:txBody>
          <a:bodyPr wrap="square" anchor="t" lIns="18288" rIns="18288" tIns="9144" bIns="9144">
            <a:noAutofit/>
          </a:bodyPr>
          <a:lstStyle/>
          <a:p>
            <a:pPr algn="l">
              <a:lnSpc>
                <a:spcPct val="102000"/>
              </a:lnSpc>
            </a:pPr>
            <a:r>
              <a:rPr sz="2200" b="1">
                <a:solidFill>
                  <a:srgbClr val="183D66"/>
                </a:solidFill>
                <a:latin typeface="Aptos Display"/>
              </a:rPr>
              <a:t>How to read these numbers</a:t>
            </a:r>
          </a:p>
        </p:txBody>
      </p:sp>
      <p:sp>
        <p:nvSpPr>
          <p:cNvPr id="15" name="TextBox 14"/>
          <p:cNvSpPr txBox="1"/>
          <p:nvPr/>
        </p:nvSpPr>
        <p:spPr>
          <a:xfrm>
            <a:off x="6172200" y="4526280"/>
            <a:ext cx="4800600" cy="1143000"/>
          </a:xfrm>
          <a:prstGeom prst="rect">
            <a:avLst/>
          </a:prstGeom>
          <a:noFill/>
        </p:spPr>
        <p:txBody>
          <a:bodyPr wrap="square" anchor="t" lIns="18288" rIns="18288" tIns="9144" bIns="9144">
            <a:noAutofit/>
          </a:bodyPr>
          <a:lstStyle/>
          <a:p>
            <a:pPr>
              <a:lnSpc>
                <a:spcPct val="103000"/>
              </a:lnSpc>
              <a:defRPr sz="1900">
                <a:solidFill>
                  <a:srgbClr val="1C2330"/>
                </a:solidFill>
                <a:latin typeface="Aptos"/>
              </a:defRPr>
            </a:pPr>
            <a:r>
              <a:t>• 9/9 means every district is Democratic in both races.</a:t>
            </a:r>
          </a:p>
          <a:p>
            <a:pPr>
              <a:lnSpc>
                <a:spcPct val="103000"/>
              </a:lnSpc>
              <a:defRPr sz="1900">
                <a:solidFill>
                  <a:srgbClr val="1C2330"/>
                </a:solidFill>
                <a:latin typeface="Aptos"/>
              </a:defRPr>
            </a:pPr>
            <a:r>
              <a:t>• Negative Efficiency Gap points toward a Democratic advantage.</a:t>
            </a:r>
          </a:p>
          <a:p>
            <a:pPr>
              <a:lnSpc>
                <a:spcPct val="103000"/>
              </a:lnSpc>
              <a:defRPr sz="1900">
                <a:solidFill>
                  <a:srgbClr val="1C2330"/>
                </a:solidFill>
                <a:latin typeface="Aptos"/>
              </a:defRPr>
            </a:pPr>
            <a:r>
              <a:t>• Cut edges count precinct-neighbor links split by district lines.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5486400" cy="228600"/>
          </a:xfrm>
          <a:prstGeom prst="rect">
            <a:avLst/>
          </a:prstGeom>
          <a:noFill/>
        </p:spPr>
        <p:txBody>
          <a:bodyPr wrap="square" anchor="t" lIns="18288" rIns="18288" tIns="9144" bIns="9144">
            <a:noAutofit/>
          </a:bodyPr>
          <a:lstStyle/>
          <a:p>
            <a:pPr algn="l">
              <a:lnSpc>
                <a:spcPct val="102000"/>
              </a:lnSpc>
            </a:pPr>
            <a:r>
              <a:rPr sz="1100" b="1">
                <a:solidFill>
                  <a:srgbClr val="2075BE"/>
                </a:solidFill>
                <a:latin typeface="Aptos"/>
              </a:rPr>
              <a:t>OUTLIER ANALYSIS</a:t>
            </a:r>
          </a:p>
        </p:txBody>
      </p:sp>
      <p:sp>
        <p:nvSpPr>
          <p:cNvPr id="3" name="TextBox 2"/>
          <p:cNvSpPr txBox="1"/>
          <p:nvPr/>
        </p:nvSpPr>
        <p:spPr>
          <a:xfrm>
            <a:off x="411480" y="530352"/>
            <a:ext cx="11155680" cy="502920"/>
          </a:xfrm>
          <a:prstGeom prst="rect">
            <a:avLst/>
          </a:prstGeom>
          <a:noFill/>
        </p:spPr>
        <p:txBody>
          <a:bodyPr wrap="square" anchor="t" lIns="18288" rIns="18288" tIns="9144" bIns="9144">
            <a:noAutofit/>
          </a:bodyPr>
          <a:lstStyle/>
          <a:p>
            <a:pPr algn="l">
              <a:lnSpc>
                <a:spcPct val="102000"/>
              </a:lnSpc>
            </a:pPr>
            <a:r>
              <a:rPr sz="2900" b="1">
                <a:solidFill>
                  <a:srgbClr val="183D66"/>
                </a:solidFill>
                <a:latin typeface="Aptos Display"/>
              </a:rPr>
              <a:t>Efficiency Gap: close to the ensemble average</a:t>
            </a:r>
          </a:p>
        </p:txBody>
      </p:sp>
      <p:sp>
        <p:nvSpPr>
          <p:cNvPr id="4" name="Rectangle 3"/>
          <p:cNvSpPr/>
          <p:nvPr/>
        </p:nvSpPr>
        <p:spPr>
          <a:xfrm>
            <a:off x="411480" y="1078992"/>
            <a:ext cx="11292840" cy="16459"/>
          </a:xfrm>
          <a:prstGeom prst="rect">
            <a:avLst/>
          </a:prstGeom>
          <a:solidFill>
            <a:srgbClr val="C8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1"/>
          <a:stretch>
            <a:fillRect/>
          </a:stretch>
        </p:blipFill>
        <p:spPr>
          <a:xfrm>
            <a:off x="411480" y="1417320"/>
            <a:ext cx="6446520" cy="4069080"/>
          </a:xfrm>
          <a:prstGeom prst="rect">
            <a:avLst/>
          </a:prstGeom>
        </p:spPr>
      </p:pic>
      <p:sp>
        <p:nvSpPr>
          <p:cNvPr id="6" name="TextBox 5"/>
          <p:cNvSpPr txBox="1"/>
          <p:nvPr/>
        </p:nvSpPr>
        <p:spPr>
          <a:xfrm>
            <a:off x="7223760" y="1417320"/>
            <a:ext cx="3840480" cy="274320"/>
          </a:xfrm>
          <a:prstGeom prst="rect">
            <a:avLst/>
          </a:prstGeom>
          <a:noFill/>
        </p:spPr>
        <p:txBody>
          <a:bodyPr wrap="square" anchor="t" lIns="18288" rIns="18288" tIns="9144" bIns="9144">
            <a:noAutofit/>
          </a:bodyPr>
          <a:lstStyle/>
          <a:p>
            <a:pPr algn="l">
              <a:lnSpc>
                <a:spcPct val="102000"/>
              </a:lnSpc>
            </a:pPr>
            <a:r>
              <a:rPr sz="2200" b="1">
                <a:solidFill>
                  <a:srgbClr val="183D66"/>
                </a:solidFill>
                <a:latin typeface="Aptos Display"/>
              </a:rPr>
              <a:t>40k verified values</a:t>
            </a:r>
          </a:p>
        </p:txBody>
      </p:sp>
      <p:sp>
        <p:nvSpPr>
          <p:cNvPr id="7" name="TextBox 6"/>
          <p:cNvSpPr txBox="1"/>
          <p:nvPr/>
        </p:nvSpPr>
        <p:spPr>
          <a:xfrm>
            <a:off x="7223760" y="1874519"/>
            <a:ext cx="2743200" cy="228600"/>
          </a:xfrm>
          <a:prstGeom prst="rect">
            <a:avLst/>
          </a:prstGeom>
          <a:noFill/>
        </p:spPr>
        <p:txBody>
          <a:bodyPr wrap="square" anchor="t" lIns="18288" rIns="18288" tIns="9144" bIns="9144">
            <a:noAutofit/>
          </a:bodyPr>
          <a:lstStyle/>
          <a:p>
            <a:pPr algn="l">
              <a:lnSpc>
                <a:spcPct val="102000"/>
              </a:lnSpc>
            </a:pPr>
            <a:r>
              <a:rPr sz="1900" b="1">
                <a:solidFill>
                  <a:srgbClr val="183D66"/>
                </a:solidFill>
                <a:latin typeface="Aptos"/>
              </a:rPr>
              <a:t>2024 President</a:t>
            </a:r>
          </a:p>
        </p:txBody>
      </p:sp>
      <p:sp>
        <p:nvSpPr>
          <p:cNvPr id="8" name="TextBox 7"/>
          <p:cNvSpPr txBox="1"/>
          <p:nvPr/>
        </p:nvSpPr>
        <p:spPr>
          <a:xfrm>
            <a:off x="7223760" y="2157984"/>
            <a:ext cx="3749039" cy="502920"/>
          </a:xfrm>
          <a:prstGeom prst="rect">
            <a:avLst/>
          </a:prstGeom>
          <a:noFill/>
        </p:spPr>
        <p:txBody>
          <a:bodyPr wrap="square" anchor="t" lIns="18288" rIns="18288" tIns="9144" bIns="9144">
            <a:noAutofit/>
          </a:bodyPr>
          <a:lstStyle/>
          <a:p>
            <a:pPr algn="l">
              <a:lnSpc>
                <a:spcPct val="102000"/>
              </a:lnSpc>
            </a:pPr>
            <a:r>
              <a:rPr sz="1800" b="0">
                <a:solidFill>
                  <a:srgbClr val="1C2330"/>
                </a:solidFill>
                <a:latin typeface="Aptos"/>
              </a:rPr>
              <a:t>Ensemble mean: −0.2403</a:t>
            </a:r>
          </a:p>
          <a:p>
            <a:pPr algn="l">
              <a:lnSpc>
                <a:spcPct val="102000"/>
              </a:lnSpc>
            </a:pPr>
            <a:r>
              <a:rPr sz="1800" b="0">
                <a:solidFill>
                  <a:srgbClr val="1C2330"/>
                </a:solidFill>
                <a:latin typeface="Aptos"/>
              </a:rPr>
              <a:t>Actual map:      −0.2409</a:t>
            </a:r>
          </a:p>
        </p:txBody>
      </p:sp>
      <p:sp>
        <p:nvSpPr>
          <p:cNvPr id="9" name="TextBox 8"/>
          <p:cNvSpPr txBox="1"/>
          <p:nvPr/>
        </p:nvSpPr>
        <p:spPr>
          <a:xfrm>
            <a:off x="7223760" y="2852928"/>
            <a:ext cx="2743200" cy="228600"/>
          </a:xfrm>
          <a:prstGeom prst="rect">
            <a:avLst/>
          </a:prstGeom>
          <a:noFill/>
        </p:spPr>
        <p:txBody>
          <a:bodyPr wrap="square" anchor="t" lIns="18288" rIns="18288" tIns="9144" bIns="9144">
            <a:noAutofit/>
          </a:bodyPr>
          <a:lstStyle/>
          <a:p>
            <a:pPr algn="l">
              <a:lnSpc>
                <a:spcPct val="102000"/>
              </a:lnSpc>
            </a:pPr>
            <a:r>
              <a:rPr sz="1900" b="1">
                <a:solidFill>
                  <a:srgbClr val="183D66"/>
                </a:solidFill>
                <a:latin typeface="Aptos"/>
              </a:rPr>
              <a:t>2024 Senate</a:t>
            </a:r>
          </a:p>
        </p:txBody>
      </p:sp>
      <p:sp>
        <p:nvSpPr>
          <p:cNvPr id="10" name="TextBox 9"/>
          <p:cNvSpPr txBox="1"/>
          <p:nvPr/>
        </p:nvSpPr>
        <p:spPr>
          <a:xfrm>
            <a:off x="7223760" y="3136392"/>
            <a:ext cx="3749039" cy="502920"/>
          </a:xfrm>
          <a:prstGeom prst="rect">
            <a:avLst/>
          </a:prstGeom>
          <a:noFill/>
        </p:spPr>
        <p:txBody>
          <a:bodyPr wrap="square" anchor="t" lIns="18288" rIns="18288" tIns="9144" bIns="9144">
            <a:noAutofit/>
          </a:bodyPr>
          <a:lstStyle/>
          <a:p>
            <a:pPr algn="l">
              <a:lnSpc>
                <a:spcPct val="102000"/>
              </a:lnSpc>
            </a:pPr>
            <a:r>
              <a:rPr sz="1800" b="0">
                <a:solidFill>
                  <a:srgbClr val="1C2330"/>
                </a:solidFill>
                <a:latin typeface="Aptos"/>
              </a:rPr>
              <a:t>Ensemble mean: −0.2915</a:t>
            </a:r>
          </a:p>
          <a:p>
            <a:pPr algn="l">
              <a:lnSpc>
                <a:spcPct val="102000"/>
              </a:lnSpc>
            </a:pPr>
            <a:r>
              <a:rPr sz="1800" b="0">
                <a:solidFill>
                  <a:srgbClr val="1C2330"/>
                </a:solidFill>
                <a:latin typeface="Aptos"/>
              </a:rPr>
              <a:t>Actual map:      −0.3015</a:t>
            </a:r>
          </a:p>
        </p:txBody>
      </p:sp>
      <p:sp>
        <p:nvSpPr>
          <p:cNvPr id="11" name="TextBox 10"/>
          <p:cNvSpPr txBox="1"/>
          <p:nvPr/>
        </p:nvSpPr>
        <p:spPr>
          <a:xfrm>
            <a:off x="7223760" y="3886200"/>
            <a:ext cx="3840480" cy="274320"/>
          </a:xfrm>
          <a:prstGeom prst="rect">
            <a:avLst/>
          </a:prstGeom>
          <a:noFill/>
        </p:spPr>
        <p:txBody>
          <a:bodyPr wrap="square" anchor="t" lIns="18288" rIns="18288" tIns="9144" bIns="9144">
            <a:noAutofit/>
          </a:bodyPr>
          <a:lstStyle/>
          <a:p>
            <a:pPr algn="l">
              <a:lnSpc>
                <a:spcPct val="102000"/>
              </a:lnSpc>
            </a:pPr>
            <a:r>
              <a:rPr sz="2200" b="1">
                <a:solidFill>
                  <a:srgbClr val="183D66"/>
                </a:solidFill>
                <a:latin typeface="Aptos Display"/>
              </a:rPr>
              <a:t>What this means</a:t>
            </a:r>
          </a:p>
        </p:txBody>
      </p:sp>
      <p:sp>
        <p:nvSpPr>
          <p:cNvPr id="12" name="TextBox 11"/>
          <p:cNvSpPr txBox="1"/>
          <p:nvPr/>
        </p:nvSpPr>
        <p:spPr>
          <a:xfrm>
            <a:off x="7223760" y="4251960"/>
            <a:ext cx="4069080" cy="594360"/>
          </a:xfrm>
          <a:prstGeom prst="rect">
            <a:avLst/>
          </a:prstGeom>
          <a:noFill/>
        </p:spPr>
        <p:txBody>
          <a:bodyPr wrap="square" anchor="t" lIns="18288" rIns="18288" tIns="9144" bIns="9144">
            <a:noAutofit/>
          </a:bodyPr>
          <a:lstStyle/>
          <a:p>
            <a:pPr algn="l">
              <a:lnSpc>
                <a:spcPct val="102000"/>
              </a:lnSpc>
            </a:pPr>
            <a:r>
              <a:rPr sz="1900" b="0">
                <a:solidFill>
                  <a:srgbClr val="1C2330"/>
                </a:solidFill>
                <a:latin typeface="Aptos"/>
              </a:rPr>
              <a:t>The actual map is very Democratic, but on Efficiency Gap alone it is close to the 40k ensemble mean.</a:t>
            </a:r>
          </a:p>
        </p:txBody>
      </p:sp>
      <p:sp>
        <p:nvSpPr>
          <p:cNvPr id="13" name="TextBox 12"/>
          <p:cNvSpPr txBox="1"/>
          <p:nvPr/>
        </p:nvSpPr>
        <p:spPr>
          <a:xfrm>
            <a:off x="7223760" y="5166360"/>
            <a:ext cx="4069080" cy="502920"/>
          </a:xfrm>
          <a:prstGeom prst="rect">
            <a:avLst/>
          </a:prstGeom>
          <a:noFill/>
        </p:spPr>
        <p:txBody>
          <a:bodyPr wrap="square" anchor="t" lIns="18288" rIns="18288" tIns="9144" bIns="9144">
            <a:noAutofit/>
          </a:bodyPr>
          <a:lstStyle/>
          <a:p>
            <a:pPr algn="l">
              <a:lnSpc>
                <a:spcPct val="102000"/>
              </a:lnSpc>
            </a:pPr>
            <a:r>
              <a:rPr sz="1800" b="1">
                <a:solidFill>
                  <a:srgbClr val="BE2337"/>
                </a:solidFill>
                <a:latin typeface="Aptos"/>
              </a:rPr>
              <a:t>The stronger outlier story comes from cut edges and marginal box plots.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274320"/>
            <a:ext cx="5486400" cy="219456"/>
          </a:xfrm>
          <a:prstGeom prst="rect">
            <a:avLst/>
          </a:prstGeom>
          <a:noFill/>
          <a:ln/>
        </p:spPr>
        <p:txBody>
          <a:bodyPr wrap="square" lIns="0" tIns="0" rIns="0" bIns="0" rtlCol="0" anchor="ctr"/>
          <a:lstStyle/>
          <a:p>
            <a:pPr indent="0" marL="0">
              <a:buNone/>
            </a:pPr>
            <a:r>
              <a:rPr lang="en-US" sz="880" b="1" dirty="0">
                <a:solidFill>
                  <a:srgbClr val="1D6FB8"/>
                </a:solidFill>
              </a:rPr>
              <a:t>CUT EDGES AND COMPACTNESS</a:t>
            </a:r>
            <a:endParaRPr lang="en-US" sz="880" dirty="0"/>
          </a:p>
        </p:txBody>
      </p:sp>
      <p:sp>
        <p:nvSpPr>
          <p:cNvPr id="3" name="Text 1"/>
          <p:cNvSpPr/>
          <p:nvPr/>
        </p:nvSpPr>
        <p:spPr>
          <a:xfrm>
            <a:off x="594360" y="512064"/>
            <a:ext cx="10972800" cy="438912"/>
          </a:xfrm>
          <a:prstGeom prst="rect">
            <a:avLst/>
          </a:prstGeom>
          <a:noFill/>
          <a:ln/>
        </p:spPr>
        <p:txBody>
          <a:bodyPr wrap="square" lIns="0" tIns="0" rIns="0" bIns="0" rtlCol="0" anchor="ctr">
            <a:normAutofit/>
          </a:bodyPr>
          <a:lstStyle/>
          <a:p>
            <a:pPr indent="0" marL="0">
              <a:buNone/>
            </a:pPr>
            <a:r>
              <a:rPr lang="en-US" sz="2800" b="1" dirty="0">
                <a:solidFill>
                  <a:srgbClr val="163B66"/>
                </a:solidFill>
              </a:rPr>
              <a:t>Cut edges: unusually fragmented boundaries</a:t>
            </a:r>
            <a:endParaRPr lang="en-US" sz="2800" dirty="0"/>
          </a:p>
        </p:txBody>
      </p:sp>
      <p:sp>
        <p:nvSpPr>
          <p:cNvPr id="4" name="Shape 2"/>
          <p:cNvSpPr/>
          <p:nvPr/>
        </p:nvSpPr>
        <p:spPr>
          <a:xfrm>
            <a:off x="594360" y="1005840"/>
            <a:ext cx="10972800" cy="0"/>
          </a:xfrm>
          <a:prstGeom prst="line">
            <a:avLst/>
          </a:prstGeom>
          <a:noFill/>
          <a:ln w="12700">
            <a:solidFill>
              <a:srgbClr val="CBD5E1"/>
            </a:solidFill>
            <a:prstDash val="solid"/>
          </a:ln>
        </p:spPr>
      </p:sp>
      <p:pic>
        <p:nvPicPr>
          <p:cNvPr id="5" name="Image 0" descr="/mnt/data/convergence_20k_vs_40k.png">    </p:cNvPr>
          <p:cNvPicPr>
            <a:picLocks noChangeAspect="1"/>
          </p:cNvPicPr>
          <p:nvPr/>
        </p:nvPicPr>
        <p:blipFill>
          <a:blip r:embed="rId1"/>
          <a:stretch>
            <a:fillRect/>
          </a:stretch>
        </p:blipFill>
        <p:spPr>
          <a:xfrm>
            <a:off x="594360" y="1362369"/>
            <a:ext cx="6263640" cy="3630342"/>
          </a:xfrm>
          <a:prstGeom prst="rect">
            <a:avLst/>
          </a:prstGeom>
        </p:spPr>
      </p:pic>
      <p:sp>
        <p:nvSpPr>
          <p:cNvPr id="6" name="Text 3"/>
          <p:cNvSpPr/>
          <p:nvPr/>
        </p:nvSpPr>
        <p:spPr>
          <a:xfrm>
            <a:off x="7269480" y="1261872"/>
            <a:ext cx="3977640" cy="502920"/>
          </a:xfrm>
          <a:prstGeom prst="rect">
            <a:avLst/>
          </a:prstGeom>
          <a:noFill/>
          <a:ln/>
        </p:spPr>
        <p:txBody>
          <a:bodyPr wrap="square" lIns="381" tIns="381" rIns="381" bIns="381" rtlCol="0" anchor="t">
            <a:normAutofit/>
          </a:bodyPr>
          <a:lstStyle/>
          <a:p>
            <a:pPr indent="0" marL="0">
              <a:lnSpc>
                <a:spcPct val="108000"/>
              </a:lnSpc>
              <a:buNone/>
            </a:pPr>
            <a:r>
              <a:rPr lang="en-US" sz="2100" b="1" dirty="0">
                <a:solidFill>
                  <a:srgbClr val="163B66"/>
                </a:solidFill>
              </a:rPr>
              <a:t>Cut edges count how often district lines split neighboring precincts.</a:t>
            </a:r>
            <a:endParaRPr lang="en-US" sz="2100" dirty="0"/>
          </a:p>
        </p:txBody>
      </p:sp>
      <p:sp>
        <p:nvSpPr>
          <p:cNvPr id="7" name="Text 4"/>
          <p:cNvSpPr/>
          <p:nvPr/>
        </p:nvSpPr>
        <p:spPr>
          <a:xfrm>
            <a:off x="7315200" y="2103120"/>
            <a:ext cx="2011680" cy="384048"/>
          </a:xfrm>
          <a:prstGeom prst="rect">
            <a:avLst/>
          </a:prstGeom>
          <a:noFill/>
          <a:ln/>
        </p:spPr>
        <p:txBody>
          <a:bodyPr wrap="square" lIns="0" tIns="0" rIns="0" bIns="0" rtlCol="0" anchor="ctr">
            <a:normAutofit/>
          </a:bodyPr>
          <a:lstStyle/>
          <a:p>
            <a:pPr indent="0" marL="0">
              <a:buNone/>
            </a:pPr>
            <a:r>
              <a:rPr lang="en-US" sz="2500" b="1" dirty="0">
                <a:solidFill>
                  <a:srgbClr val="B51F36"/>
                </a:solidFill>
              </a:rPr>
              <a:t>659</a:t>
            </a:r>
            <a:endParaRPr lang="en-US" sz="2500" dirty="0"/>
          </a:p>
        </p:txBody>
      </p:sp>
      <p:sp>
        <p:nvSpPr>
          <p:cNvPr id="8" name="Text 5"/>
          <p:cNvSpPr/>
          <p:nvPr/>
        </p:nvSpPr>
        <p:spPr>
          <a:xfrm>
            <a:off x="7315200" y="2505456"/>
            <a:ext cx="2011680" cy="347472"/>
          </a:xfrm>
          <a:prstGeom prst="rect">
            <a:avLst/>
          </a:prstGeom>
          <a:noFill/>
          <a:ln/>
        </p:spPr>
        <p:txBody>
          <a:bodyPr wrap="square" lIns="0" tIns="0" rIns="0" bIns="0" rtlCol="0" anchor="ctr">
            <a:normAutofit/>
          </a:bodyPr>
          <a:lstStyle/>
          <a:p>
            <a:pPr indent="0" marL="0">
              <a:buNone/>
            </a:pPr>
            <a:r>
              <a:rPr lang="en-US" sz="1060" dirty="0">
                <a:solidFill>
                  <a:srgbClr val="4B5563"/>
                </a:solidFill>
              </a:rPr>
              <a:t>actual cut edges</a:t>
            </a:r>
            <a:endParaRPr lang="en-US" sz="1060" dirty="0"/>
          </a:p>
        </p:txBody>
      </p:sp>
      <p:sp>
        <p:nvSpPr>
          <p:cNvPr id="9" name="Text 6"/>
          <p:cNvSpPr/>
          <p:nvPr/>
        </p:nvSpPr>
        <p:spPr>
          <a:xfrm>
            <a:off x="9326880" y="2103120"/>
            <a:ext cx="2240280" cy="384048"/>
          </a:xfrm>
          <a:prstGeom prst="rect">
            <a:avLst/>
          </a:prstGeom>
          <a:noFill/>
          <a:ln/>
        </p:spPr>
        <p:txBody>
          <a:bodyPr wrap="square" lIns="0" tIns="0" rIns="0" bIns="0" rtlCol="0" anchor="ctr">
            <a:normAutofit/>
          </a:bodyPr>
          <a:lstStyle/>
          <a:p>
            <a:pPr indent="0" marL="0">
              <a:buNone/>
            </a:pPr>
            <a:r>
              <a:rPr lang="en-US" sz="2500" b="1" dirty="0">
                <a:solidFill>
                  <a:srgbClr val="1D6FB8"/>
                </a:solidFill>
              </a:rPr>
              <a:t>≈486</a:t>
            </a:r>
            <a:endParaRPr lang="en-US" sz="2500" dirty="0"/>
          </a:p>
        </p:txBody>
      </p:sp>
      <p:sp>
        <p:nvSpPr>
          <p:cNvPr id="10" name="Text 7"/>
          <p:cNvSpPr/>
          <p:nvPr/>
        </p:nvSpPr>
        <p:spPr>
          <a:xfrm>
            <a:off x="9326880" y="2505456"/>
            <a:ext cx="2240280" cy="347472"/>
          </a:xfrm>
          <a:prstGeom prst="rect">
            <a:avLst/>
          </a:prstGeom>
          <a:noFill/>
          <a:ln/>
        </p:spPr>
        <p:txBody>
          <a:bodyPr wrap="square" lIns="0" tIns="0" rIns="0" bIns="0" rtlCol="0" anchor="ctr">
            <a:normAutofit/>
          </a:bodyPr>
          <a:lstStyle/>
          <a:p>
            <a:pPr indent="0" marL="0">
              <a:buNone/>
            </a:pPr>
            <a:r>
              <a:rPr lang="en-US" sz="1060" dirty="0">
                <a:solidFill>
                  <a:srgbClr val="4B5563"/>
                </a:solidFill>
              </a:rPr>
              <a:t>running average center</a:t>
            </a:r>
            <a:endParaRPr lang="en-US" sz="1060" dirty="0"/>
          </a:p>
        </p:txBody>
      </p:sp>
      <p:sp>
        <p:nvSpPr>
          <p:cNvPr id="11" name="Text 8"/>
          <p:cNvSpPr/>
          <p:nvPr/>
        </p:nvSpPr>
        <p:spPr>
          <a:xfrm>
            <a:off x="7315200" y="3246120"/>
            <a:ext cx="4160520" cy="1481328"/>
          </a:xfrm>
          <a:prstGeom prst="rect">
            <a:avLst/>
          </a:prstGeom>
          <a:noFill/>
          <a:ln/>
        </p:spPr>
        <p:txBody>
          <a:bodyPr wrap="square" lIns="635" tIns="635" rIns="635" bIns="635" rtlCol="0" anchor="ctr">
            <a:normAutofit/>
          </a:bodyPr>
          <a:lstStyle/>
          <a:p>
            <a:pPr indent="0" marL="0">
              <a:lnSpc>
                <a:spcPct val="108000"/>
              </a:lnSpc>
              <a:buNone/>
            </a:pPr>
            <a:r>
              <a:rPr lang="en-US" sz="1700" dirty="0">
                <a:solidFill>
                  <a:srgbClr val="111827"/>
                </a:solidFill>
              </a:rPr>
              <a:t>• Some fragmentation is real because the Cape, islands, and coastline complicate Massachusetts geography.</a:t>
            </a:r>
            <a:endParaRPr lang="en-US" sz="1700" dirty="0"/>
          </a:p>
          <a:p>
            <a:pPr indent="0" marL="0">
              <a:lnSpc>
                <a:spcPct val="108000"/>
              </a:lnSpc>
              <a:buNone/>
            </a:pPr>
            <a:r>
              <a:rPr lang="en-US" sz="1700" dirty="0">
                <a:solidFill>
                  <a:srgbClr val="111827"/>
                </a:solidFill>
              </a:rPr>
              <a:t>• But the enacted map still sits far to the right of the ensemble cut-edge distribution.</a:t>
            </a:r>
            <a:endParaRPr lang="en-US" sz="1700" dirty="0"/>
          </a:p>
          <a:p>
            <a:pPr indent="0" marL="0">
              <a:lnSpc>
                <a:spcPct val="108000"/>
              </a:lnSpc>
              <a:buNone/>
            </a:pPr>
            <a:r>
              <a:rPr lang="en-US" sz="1700" dirty="0">
                <a:solidFill>
                  <a:srgbClr val="111827"/>
                </a:solidFill>
              </a:rPr>
              <a:t>• This is one of our strongest outlier signals.</a:t>
            </a:r>
            <a:endParaRPr lang="en-US" sz="1700" dirty="0"/>
          </a:p>
        </p:txBody>
      </p:sp>
      <p:sp>
        <p:nvSpPr>
          <p:cNvPr id="12" name="Text 9"/>
          <p:cNvSpPr/>
          <p:nvPr/>
        </p:nvSpPr>
        <p:spPr>
          <a:xfrm>
            <a:off x="594360" y="6565392"/>
            <a:ext cx="10789920" cy="164592"/>
          </a:xfrm>
          <a:prstGeom prst="rect">
            <a:avLst/>
          </a:prstGeom>
          <a:noFill/>
          <a:ln/>
        </p:spPr>
        <p:txBody>
          <a:bodyPr wrap="square" lIns="0" tIns="0" rIns="0" bIns="0" rtlCol="0" anchor="ctr">
            <a:normAutofit/>
          </a:bodyPr>
          <a:lstStyle/>
          <a:p>
            <a:pPr indent="0" marL="0">
              <a:buNone/>
            </a:pPr>
            <a:r>
              <a:rPr lang="en-US" sz="750" dirty="0">
                <a:solidFill>
                  <a:srgbClr val="6B7280"/>
                </a:solidFill>
              </a:rPr>
              <a:t>Sources: convergence_20k_vs_40k.png; convergence_running_average.png; analysis notebook outputs.</a:t>
            </a:r>
            <a:endParaRPr lang="en-US" sz="750" dirty="0"/>
          </a:p>
        </p:txBody>
      </p:sp>
      <p:sp>
        <p:nvSpPr>
          <p:cNvPr id="25" name="Slide Number Placeholder 0"/>
          <p:cNvSpPr>
            <a:spLocks noGrp="1"/>
          </p:cNvSpPr>
          <p:nvPr>
            <p:ph type="sldNum" sz="quarter" idx="4294967295"/>
          </p:nvPr>
        </p:nvSpPr>
        <p:spPr>
          <a:xfrm>
            <a:off x="1138428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274320"/>
            <a:ext cx="5486400" cy="219456"/>
          </a:xfrm>
          <a:prstGeom prst="rect">
            <a:avLst/>
          </a:prstGeom>
          <a:noFill/>
          <a:ln/>
        </p:spPr>
        <p:txBody>
          <a:bodyPr wrap="square" lIns="0" tIns="0" rIns="0" bIns="0" rtlCol="0" anchor="ctr"/>
          <a:lstStyle/>
          <a:p>
            <a:pPr indent="0" marL="0">
              <a:buNone/>
            </a:pPr>
            <a:r>
              <a:rPr lang="en-US" sz="880" b="1" dirty="0">
                <a:solidFill>
                  <a:srgbClr val="1D6FB8"/>
                </a:solidFill>
              </a:rPr>
              <a:t>RACIAL AND PARTISAN CONTEXT</a:t>
            </a:r>
            <a:endParaRPr lang="en-US" sz="880" dirty="0"/>
          </a:p>
        </p:txBody>
      </p:sp>
      <p:sp>
        <p:nvSpPr>
          <p:cNvPr id="3" name="Text 1"/>
          <p:cNvSpPr/>
          <p:nvPr/>
        </p:nvSpPr>
        <p:spPr>
          <a:xfrm>
            <a:off x="594360" y="512064"/>
            <a:ext cx="10972800" cy="438912"/>
          </a:xfrm>
          <a:prstGeom prst="rect">
            <a:avLst/>
          </a:prstGeom>
          <a:noFill/>
          <a:ln/>
        </p:spPr>
        <p:txBody>
          <a:bodyPr wrap="square" lIns="0" tIns="0" rIns="0" bIns="0" rtlCol="0" anchor="ctr">
            <a:normAutofit/>
          </a:bodyPr>
          <a:lstStyle/>
          <a:p>
            <a:pPr indent="0" marL="0">
              <a:buNone/>
            </a:pPr>
            <a:r>
              <a:rPr lang="en-US" sz="2800" b="1" dirty="0">
                <a:solidFill>
                  <a:srgbClr val="163B66"/>
                </a:solidFill>
              </a:rPr>
              <a:t>Majority-minority representation: District 7</a:t>
            </a:r>
            <a:endParaRPr lang="en-US" sz="2800" dirty="0"/>
          </a:p>
        </p:txBody>
      </p:sp>
      <p:sp>
        <p:nvSpPr>
          <p:cNvPr id="4" name="Shape 2"/>
          <p:cNvSpPr/>
          <p:nvPr/>
        </p:nvSpPr>
        <p:spPr>
          <a:xfrm>
            <a:off x="594360" y="1005840"/>
            <a:ext cx="10972800" cy="0"/>
          </a:xfrm>
          <a:prstGeom prst="line">
            <a:avLst/>
          </a:prstGeom>
          <a:noFill/>
          <a:ln w="12700">
            <a:solidFill>
              <a:srgbClr val="CBD5E1"/>
            </a:solidFill>
            <a:prstDash val="solid"/>
          </a:ln>
        </p:spPr>
      </p:sp>
      <p:pic>
        <p:nvPicPr>
          <p:cNvPr id="5" name="Image 0" descr="/mnt/data/ma_districts_map.png">    </p:cNvPr>
          <p:cNvPicPr>
            <a:picLocks noChangeAspect="1"/>
          </p:cNvPicPr>
          <p:nvPr/>
        </p:nvPicPr>
        <p:blipFill>
          <a:blip r:embed="rId1"/>
          <a:stretch>
            <a:fillRect/>
          </a:stretch>
        </p:blipFill>
        <p:spPr>
          <a:xfrm>
            <a:off x="621792" y="1645920"/>
            <a:ext cx="5212080" cy="3474720"/>
          </a:xfrm>
          <a:prstGeom prst="rect">
            <a:avLst/>
          </a:prstGeom>
        </p:spPr>
      </p:pic>
      <p:sp>
        <p:nvSpPr>
          <p:cNvPr id="6" name="Text 3"/>
          <p:cNvSpPr/>
          <p:nvPr/>
        </p:nvSpPr>
        <p:spPr>
          <a:xfrm>
            <a:off x="6263640" y="1234440"/>
            <a:ext cx="5074920" cy="411480"/>
          </a:xfrm>
          <a:prstGeom prst="rect">
            <a:avLst/>
          </a:prstGeom>
          <a:noFill/>
          <a:ln/>
        </p:spPr>
        <p:txBody>
          <a:bodyPr wrap="square" lIns="381" tIns="381" rIns="381" bIns="381" rtlCol="0" anchor="t">
            <a:normAutofit/>
          </a:bodyPr>
          <a:lstStyle/>
          <a:p>
            <a:pPr indent="0" marL="0">
              <a:lnSpc>
                <a:spcPct val="108000"/>
              </a:lnSpc>
              <a:buNone/>
            </a:pPr>
            <a:r>
              <a:rPr lang="en-US" sz="2100" b="1" dirty="0">
                <a:solidFill>
                  <a:srgbClr val="163B66"/>
                </a:solidFill>
              </a:rPr>
              <a:t>Only one congressional district has people of color as a majority of the population:</a:t>
            </a:r>
            <a:endParaRPr lang="en-US" sz="2100" dirty="0"/>
          </a:p>
        </p:txBody>
      </p:sp>
      <p:sp>
        <p:nvSpPr>
          <p:cNvPr id="7" name="Text 4"/>
          <p:cNvSpPr/>
          <p:nvPr/>
        </p:nvSpPr>
        <p:spPr>
          <a:xfrm>
            <a:off x="6309360" y="1920240"/>
            <a:ext cx="2148840" cy="384048"/>
          </a:xfrm>
          <a:prstGeom prst="rect">
            <a:avLst/>
          </a:prstGeom>
          <a:noFill/>
          <a:ln/>
        </p:spPr>
        <p:txBody>
          <a:bodyPr wrap="square" lIns="0" tIns="0" rIns="0" bIns="0" rtlCol="0" anchor="ctr">
            <a:normAutofit/>
          </a:bodyPr>
          <a:lstStyle/>
          <a:p>
            <a:pPr indent="0" marL="0">
              <a:buNone/>
            </a:pPr>
            <a:r>
              <a:rPr lang="en-US" sz="2500" b="1" dirty="0">
                <a:solidFill>
                  <a:srgbClr val="087F5B"/>
                </a:solidFill>
              </a:rPr>
              <a:t>District 7</a:t>
            </a:r>
            <a:endParaRPr lang="en-US" sz="2500" dirty="0"/>
          </a:p>
        </p:txBody>
      </p:sp>
      <p:sp>
        <p:nvSpPr>
          <p:cNvPr id="8" name="Text 5"/>
          <p:cNvSpPr/>
          <p:nvPr/>
        </p:nvSpPr>
        <p:spPr>
          <a:xfrm>
            <a:off x="6309360" y="2322576"/>
            <a:ext cx="2148840" cy="347472"/>
          </a:xfrm>
          <a:prstGeom prst="rect">
            <a:avLst/>
          </a:prstGeom>
          <a:noFill/>
          <a:ln/>
        </p:spPr>
        <p:txBody>
          <a:bodyPr wrap="square" lIns="0" tIns="0" rIns="0" bIns="0" rtlCol="0" anchor="ctr">
            <a:normAutofit/>
          </a:bodyPr>
          <a:lstStyle/>
          <a:p>
            <a:pPr indent="0" marL="0">
              <a:buNone/>
            </a:pPr>
            <a:r>
              <a:rPr lang="en-US" sz="1060" dirty="0">
                <a:solidFill>
                  <a:srgbClr val="4B5563"/>
                </a:solidFill>
              </a:rPr>
              <a:t>Boston / Cambridge / Somerville core</a:t>
            </a:r>
            <a:endParaRPr lang="en-US" sz="1060" dirty="0"/>
          </a:p>
        </p:txBody>
      </p:sp>
      <p:sp>
        <p:nvSpPr>
          <p:cNvPr id="9" name="Text 6"/>
          <p:cNvSpPr/>
          <p:nvPr/>
        </p:nvSpPr>
        <p:spPr>
          <a:xfrm>
            <a:off x="8686800" y="1920240"/>
            <a:ext cx="2331720" cy="384048"/>
          </a:xfrm>
          <a:prstGeom prst="rect">
            <a:avLst/>
          </a:prstGeom>
          <a:noFill/>
          <a:ln/>
        </p:spPr>
        <p:txBody>
          <a:bodyPr wrap="square" lIns="0" tIns="0" rIns="0" bIns="0" rtlCol="0" anchor="ctr">
            <a:normAutofit/>
          </a:bodyPr>
          <a:lstStyle/>
          <a:p>
            <a:pPr indent="0" marL="0">
              <a:buNone/>
            </a:pPr>
            <a:r>
              <a:rPr lang="en-US" sz="2500" b="1" dirty="0">
                <a:solidFill>
                  <a:srgbClr val="087F5B"/>
                </a:solidFill>
              </a:rPr>
              <a:t>61.33%</a:t>
            </a:r>
            <a:endParaRPr lang="en-US" sz="2500" dirty="0"/>
          </a:p>
        </p:txBody>
      </p:sp>
      <p:sp>
        <p:nvSpPr>
          <p:cNvPr id="10" name="Text 7"/>
          <p:cNvSpPr/>
          <p:nvPr/>
        </p:nvSpPr>
        <p:spPr>
          <a:xfrm>
            <a:off x="8686800" y="2322576"/>
            <a:ext cx="2331720" cy="347472"/>
          </a:xfrm>
          <a:prstGeom prst="rect">
            <a:avLst/>
          </a:prstGeom>
          <a:noFill/>
          <a:ln/>
        </p:spPr>
        <p:txBody>
          <a:bodyPr wrap="square" lIns="0" tIns="0" rIns="0" bIns="0" rtlCol="0" anchor="ctr">
            <a:normAutofit/>
          </a:bodyPr>
          <a:lstStyle/>
          <a:p>
            <a:pPr indent="0" marL="0">
              <a:buNone/>
            </a:pPr>
            <a:r>
              <a:rPr lang="en-US" sz="1060" dirty="0">
                <a:solidFill>
                  <a:srgbClr val="4B5563"/>
                </a:solidFill>
              </a:rPr>
              <a:t>minority population in 2021 mapbook</a:t>
            </a:r>
            <a:endParaRPr lang="en-US" sz="1060" dirty="0"/>
          </a:p>
        </p:txBody>
      </p:sp>
      <p:sp>
        <p:nvSpPr>
          <p:cNvPr id="11" name="Text 8"/>
          <p:cNvSpPr/>
          <p:nvPr/>
        </p:nvSpPr>
        <p:spPr>
          <a:xfrm>
            <a:off x="6309360" y="3127248"/>
            <a:ext cx="2651760" cy="384048"/>
          </a:xfrm>
          <a:prstGeom prst="rect">
            <a:avLst/>
          </a:prstGeom>
          <a:noFill/>
          <a:ln/>
        </p:spPr>
        <p:txBody>
          <a:bodyPr wrap="square" lIns="0" tIns="0" rIns="0" bIns="0" rtlCol="0" anchor="ctr">
            <a:normAutofit/>
          </a:bodyPr>
          <a:lstStyle/>
          <a:p>
            <a:pPr indent="0" marL="0">
              <a:buNone/>
            </a:pPr>
            <a:r>
              <a:rPr lang="en-US" sz="2500" b="1" dirty="0">
                <a:solidFill>
                  <a:srgbClr val="B51F36"/>
                </a:solidFill>
              </a:rPr>
              <a:t>82.6%</a:t>
            </a:r>
            <a:endParaRPr lang="en-US" sz="2500" dirty="0"/>
          </a:p>
        </p:txBody>
      </p:sp>
      <p:sp>
        <p:nvSpPr>
          <p:cNvPr id="12" name="Text 9"/>
          <p:cNvSpPr/>
          <p:nvPr/>
        </p:nvSpPr>
        <p:spPr>
          <a:xfrm>
            <a:off x="6309360" y="3529584"/>
            <a:ext cx="2651760" cy="347472"/>
          </a:xfrm>
          <a:prstGeom prst="rect">
            <a:avLst/>
          </a:prstGeom>
          <a:noFill/>
          <a:ln/>
        </p:spPr>
        <p:txBody>
          <a:bodyPr wrap="square" lIns="0" tIns="0" rIns="0" bIns="0" rtlCol="0" anchor="ctr">
            <a:normAutofit/>
          </a:bodyPr>
          <a:lstStyle/>
          <a:p>
            <a:pPr indent="0" marL="0">
              <a:buNone/>
            </a:pPr>
            <a:r>
              <a:rPr lang="en-US" sz="1060" dirty="0">
                <a:solidFill>
                  <a:srgbClr val="4B5563"/>
                </a:solidFill>
              </a:rPr>
              <a:t>Harris two-party share in our precinct data</a:t>
            </a:r>
            <a:endParaRPr lang="en-US" sz="1060" dirty="0"/>
          </a:p>
        </p:txBody>
      </p:sp>
      <p:sp>
        <p:nvSpPr>
          <p:cNvPr id="13" name="Text 10"/>
          <p:cNvSpPr/>
          <p:nvPr/>
        </p:nvSpPr>
        <p:spPr>
          <a:xfrm>
            <a:off x="9006840" y="3127248"/>
            <a:ext cx="2423160" cy="384048"/>
          </a:xfrm>
          <a:prstGeom prst="rect">
            <a:avLst/>
          </a:prstGeom>
          <a:noFill/>
          <a:ln/>
        </p:spPr>
        <p:txBody>
          <a:bodyPr wrap="square" lIns="0" tIns="0" rIns="0" bIns="0" rtlCol="0" anchor="ctr">
            <a:normAutofit/>
          </a:bodyPr>
          <a:lstStyle/>
          <a:p>
            <a:pPr indent="0" marL="0">
              <a:buNone/>
            </a:pPr>
            <a:r>
              <a:rPr lang="en-US" sz="2500" b="1" dirty="0">
                <a:solidFill>
                  <a:srgbClr val="B51F36"/>
                </a:solidFill>
              </a:rPr>
              <a:t>82.3%</a:t>
            </a:r>
            <a:endParaRPr lang="en-US" sz="2500" dirty="0"/>
          </a:p>
        </p:txBody>
      </p:sp>
      <p:sp>
        <p:nvSpPr>
          <p:cNvPr id="14" name="Text 11"/>
          <p:cNvSpPr/>
          <p:nvPr/>
        </p:nvSpPr>
        <p:spPr>
          <a:xfrm>
            <a:off x="9006840" y="3529584"/>
            <a:ext cx="2423160" cy="347472"/>
          </a:xfrm>
          <a:prstGeom prst="rect">
            <a:avLst/>
          </a:prstGeom>
          <a:noFill/>
          <a:ln/>
        </p:spPr>
        <p:txBody>
          <a:bodyPr wrap="square" lIns="0" tIns="0" rIns="0" bIns="0" rtlCol="0" anchor="ctr">
            <a:normAutofit/>
          </a:bodyPr>
          <a:lstStyle/>
          <a:p>
            <a:pPr indent="0" marL="0">
              <a:buNone/>
            </a:pPr>
            <a:r>
              <a:rPr lang="en-US" sz="1060" dirty="0">
                <a:solidFill>
                  <a:srgbClr val="4B5563"/>
                </a:solidFill>
              </a:rPr>
              <a:t>Warren two-party share in our precinct data</a:t>
            </a:r>
            <a:endParaRPr lang="en-US" sz="1060" dirty="0"/>
          </a:p>
        </p:txBody>
      </p:sp>
      <p:sp>
        <p:nvSpPr>
          <p:cNvPr id="15" name="Text 12"/>
          <p:cNvSpPr/>
          <p:nvPr/>
        </p:nvSpPr>
        <p:spPr>
          <a:xfrm>
            <a:off x="6309360" y="4663440"/>
            <a:ext cx="4892040" cy="841248"/>
          </a:xfrm>
          <a:prstGeom prst="rect">
            <a:avLst/>
          </a:prstGeom>
          <a:noFill/>
          <a:ln/>
        </p:spPr>
        <p:txBody>
          <a:bodyPr wrap="square" lIns="381" tIns="381" rIns="381" bIns="381" rtlCol="0" anchor="t">
            <a:normAutofit/>
          </a:bodyPr>
          <a:lstStyle/>
          <a:p>
            <a:pPr indent="0" marL="0">
              <a:lnSpc>
                <a:spcPct val="108000"/>
              </a:lnSpc>
              <a:buNone/>
            </a:pPr>
            <a:r>
              <a:rPr lang="en-US" sz="1780" dirty="0">
                <a:solidFill>
                  <a:srgbClr val="111827"/>
                </a:solidFill>
              </a:rPr>
              <a:t>This is the main Massachusetts tension: District 7 helps preserve minority representation, but it is also the bluest district and contributes to the “packed urban voters” pattern seen in the box plots.</a:t>
            </a:r>
            <a:endParaRPr lang="en-US" sz="1780" dirty="0"/>
          </a:p>
        </p:txBody>
      </p:sp>
      <p:sp>
        <p:nvSpPr>
          <p:cNvPr id="16" name="Text 13"/>
          <p:cNvSpPr/>
          <p:nvPr/>
        </p:nvSpPr>
        <p:spPr>
          <a:xfrm>
            <a:off x="594360" y="6565392"/>
            <a:ext cx="10789920" cy="164592"/>
          </a:xfrm>
          <a:prstGeom prst="rect">
            <a:avLst/>
          </a:prstGeom>
          <a:noFill/>
          <a:ln/>
        </p:spPr>
        <p:txBody>
          <a:bodyPr wrap="square" lIns="0" tIns="0" rIns="0" bIns="0" rtlCol="0" anchor="ctr">
            <a:normAutofit/>
          </a:bodyPr>
          <a:lstStyle/>
          <a:p>
            <a:pPr indent="0" marL="0">
              <a:buNone/>
            </a:pPr>
            <a:r>
              <a:rPr lang="en-US" sz="750" dirty="0">
                <a:solidFill>
                  <a:srgbClr val="6B7280"/>
                </a:solidFill>
              </a:rPr>
              <a:t>Sources: Massachusetts Legislature Congressional Mapbook 2021; project precinct aggregation.</a:t>
            </a:r>
            <a:endParaRPr lang="en-US" sz="750" dirty="0"/>
          </a:p>
        </p:txBody>
      </p:sp>
      <p:sp>
        <p:nvSpPr>
          <p:cNvPr id="25" name="Slide Number Placeholder 0"/>
          <p:cNvSpPr>
            <a:spLocks noGrp="1"/>
          </p:cNvSpPr>
          <p:nvPr>
            <p:ph type="sldNum" sz="quarter" idx="4294967295"/>
          </p:nvPr>
        </p:nvSpPr>
        <p:spPr>
          <a:xfrm>
            <a:off x="1138428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9FC"/>
        </a:solidFill>
        <a:effectLst/>
      </p:bgPr>
    </p:bg>
    <p:spTree>
      <p:nvGrpSpPr>
        <p:cNvPr id="1" name=""/>
        <p:cNvGrpSpPr/>
        <p:nvPr/>
      </p:nvGrpSpPr>
      <p:grpSpPr>
        <a:xfrm>
          <a:off x="0" y="0"/>
          <a:ext cx="0" cy="0"/>
          <a:chOff x="0" y="0"/>
          <a:chExt cx="0" cy="0"/>
        </a:xfrm>
      </p:grpSpPr>
      <p:sp>
        <p:nvSpPr>
          <p:cNvPr id="2" name="TextBox 1"/>
          <p:cNvSpPr txBox="1"/>
          <p:nvPr/>
        </p:nvSpPr>
        <p:spPr>
          <a:xfrm>
            <a:off x="411480" y="228600"/>
            <a:ext cx="5486400" cy="228600"/>
          </a:xfrm>
          <a:prstGeom prst="rect">
            <a:avLst/>
          </a:prstGeom>
          <a:noFill/>
        </p:spPr>
        <p:txBody>
          <a:bodyPr wrap="square" anchor="t" lIns="18288" rIns="18288" tIns="9144" bIns="9144">
            <a:noAutofit/>
          </a:bodyPr>
          <a:lstStyle/>
          <a:p>
            <a:pPr algn="l">
              <a:lnSpc>
                <a:spcPct val="102000"/>
              </a:lnSpc>
            </a:pPr>
            <a:r>
              <a:rPr sz="1100" b="1">
                <a:solidFill>
                  <a:srgbClr val="2075BE"/>
                </a:solidFill>
                <a:latin typeface="Aptos"/>
              </a:rPr>
              <a:t>SIGNATURE OF GERRYMANDERING</a:t>
            </a:r>
          </a:p>
        </p:txBody>
      </p:sp>
      <p:sp>
        <p:nvSpPr>
          <p:cNvPr id="3" name="TextBox 2"/>
          <p:cNvSpPr txBox="1"/>
          <p:nvPr/>
        </p:nvSpPr>
        <p:spPr>
          <a:xfrm>
            <a:off x="411480" y="530352"/>
            <a:ext cx="11155680" cy="502920"/>
          </a:xfrm>
          <a:prstGeom prst="rect">
            <a:avLst/>
          </a:prstGeom>
          <a:noFill/>
        </p:spPr>
        <p:txBody>
          <a:bodyPr wrap="square" anchor="t" lIns="18288" rIns="18288" tIns="9144" bIns="9144">
            <a:noAutofit/>
          </a:bodyPr>
          <a:lstStyle/>
          <a:p>
            <a:pPr algn="l">
              <a:lnSpc>
                <a:spcPct val="102000"/>
              </a:lnSpc>
            </a:pPr>
            <a:r>
              <a:rPr sz="3100" b="1">
                <a:solidFill>
                  <a:srgbClr val="183D66"/>
                </a:solidFill>
                <a:latin typeface="Aptos Display"/>
              </a:rPr>
              <a:t>Marginal box plots: what the ranks mean</a:t>
            </a:r>
          </a:p>
        </p:txBody>
      </p:sp>
      <p:sp>
        <p:nvSpPr>
          <p:cNvPr id="4" name="Rectangle 3"/>
          <p:cNvSpPr/>
          <p:nvPr/>
        </p:nvSpPr>
        <p:spPr>
          <a:xfrm>
            <a:off x="411480" y="1078992"/>
            <a:ext cx="11292840" cy="16459"/>
          </a:xfrm>
          <a:prstGeom prst="rect">
            <a:avLst/>
          </a:prstGeom>
          <a:solidFill>
            <a:srgbClr val="C8D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1"/>
          <a:stretch>
            <a:fillRect/>
          </a:stretch>
        </p:blipFill>
        <p:spPr>
          <a:xfrm>
            <a:off x="502920" y="1417320"/>
            <a:ext cx="6629400" cy="4069080"/>
          </a:xfrm>
          <a:prstGeom prst="rect">
            <a:avLst/>
          </a:prstGeom>
        </p:spPr>
      </p:pic>
      <p:sp>
        <p:nvSpPr>
          <p:cNvPr id="6" name="TextBox 5"/>
          <p:cNvSpPr txBox="1"/>
          <p:nvPr/>
        </p:nvSpPr>
        <p:spPr>
          <a:xfrm>
            <a:off x="7406640" y="1325880"/>
            <a:ext cx="4114800" cy="274320"/>
          </a:xfrm>
          <a:prstGeom prst="rect">
            <a:avLst/>
          </a:prstGeom>
          <a:noFill/>
        </p:spPr>
        <p:txBody>
          <a:bodyPr wrap="square" anchor="t" lIns="18288" rIns="18288" tIns="9144" bIns="9144">
            <a:noAutofit/>
          </a:bodyPr>
          <a:lstStyle/>
          <a:p>
            <a:pPr algn="l">
              <a:lnSpc>
                <a:spcPct val="102000"/>
              </a:lnSpc>
            </a:pPr>
            <a:r>
              <a:rPr sz="2200" b="1">
                <a:solidFill>
                  <a:srgbClr val="183D66"/>
                </a:solidFill>
                <a:latin typeface="Aptos Display"/>
              </a:rPr>
              <a:t>How to read the x-axis</a:t>
            </a:r>
          </a:p>
        </p:txBody>
      </p:sp>
      <p:sp>
        <p:nvSpPr>
          <p:cNvPr id="7" name="TextBox 6"/>
          <p:cNvSpPr txBox="1"/>
          <p:nvPr/>
        </p:nvSpPr>
        <p:spPr>
          <a:xfrm>
            <a:off x="7406640" y="1691640"/>
            <a:ext cx="4160520" cy="1463040"/>
          </a:xfrm>
          <a:prstGeom prst="rect">
            <a:avLst/>
          </a:prstGeom>
          <a:noFill/>
        </p:spPr>
        <p:txBody>
          <a:bodyPr wrap="square" anchor="t" lIns="18288" rIns="18288" tIns="9144" bIns="9144">
            <a:noAutofit/>
          </a:bodyPr>
          <a:lstStyle/>
          <a:p>
            <a:pPr>
              <a:lnSpc>
                <a:spcPct val="103000"/>
              </a:lnSpc>
              <a:defRPr sz="1800">
                <a:solidFill>
                  <a:srgbClr val="1C2330"/>
                </a:solidFill>
                <a:latin typeface="Aptos"/>
              </a:defRPr>
            </a:pPr>
            <a:r>
              <a:t>• Each map is sorted from least Democratic district to most Democratic district.</a:t>
            </a:r>
          </a:p>
          <a:p>
            <a:pPr>
              <a:lnSpc>
                <a:spcPct val="103000"/>
              </a:lnSpc>
              <a:defRPr sz="1800">
                <a:solidFill>
                  <a:srgbClr val="1C2330"/>
                </a:solidFill>
                <a:latin typeface="Aptos"/>
              </a:defRPr>
            </a:pPr>
            <a:r>
              <a:t>• Rank 9 means “the bluest district,” not Congressional District 9.</a:t>
            </a:r>
          </a:p>
          <a:p>
            <a:pPr>
              <a:lnSpc>
                <a:spcPct val="103000"/>
              </a:lnSpc>
              <a:defRPr sz="1800">
                <a:solidFill>
                  <a:srgbClr val="1C2330"/>
                </a:solidFill>
                <a:latin typeface="Aptos"/>
              </a:defRPr>
            </a:pPr>
            <a:r>
              <a:t>• The blue dot shows the enacted map at that rank.</a:t>
            </a:r>
          </a:p>
        </p:txBody>
      </p:sp>
      <p:sp>
        <p:nvSpPr>
          <p:cNvPr id="8" name="TextBox 7"/>
          <p:cNvSpPr txBox="1"/>
          <p:nvPr/>
        </p:nvSpPr>
        <p:spPr>
          <a:xfrm>
            <a:off x="7406640" y="3611880"/>
            <a:ext cx="4114800" cy="274320"/>
          </a:xfrm>
          <a:prstGeom prst="rect">
            <a:avLst/>
          </a:prstGeom>
          <a:noFill/>
        </p:spPr>
        <p:txBody>
          <a:bodyPr wrap="square" anchor="t" lIns="18288" rIns="18288" tIns="9144" bIns="9144">
            <a:noAutofit/>
          </a:bodyPr>
          <a:lstStyle/>
          <a:p>
            <a:pPr algn="l">
              <a:lnSpc>
                <a:spcPct val="102000"/>
              </a:lnSpc>
            </a:pPr>
            <a:r>
              <a:rPr sz="2200" b="1">
                <a:solidFill>
                  <a:srgbClr val="183D66"/>
                </a:solidFill>
                <a:latin typeface="Aptos Display"/>
              </a:rPr>
              <a:t>What the graph says</a:t>
            </a:r>
          </a:p>
        </p:txBody>
      </p:sp>
      <p:sp>
        <p:nvSpPr>
          <p:cNvPr id="9" name="TextBox 8"/>
          <p:cNvSpPr txBox="1"/>
          <p:nvPr/>
        </p:nvSpPr>
        <p:spPr>
          <a:xfrm>
            <a:off x="7406640" y="3977639"/>
            <a:ext cx="4160520" cy="777240"/>
          </a:xfrm>
          <a:prstGeom prst="rect">
            <a:avLst/>
          </a:prstGeom>
          <a:noFill/>
        </p:spPr>
        <p:txBody>
          <a:bodyPr wrap="square" anchor="t" lIns="18288" rIns="18288" tIns="9144" bIns="9144">
            <a:noAutofit/>
          </a:bodyPr>
          <a:lstStyle/>
          <a:p>
            <a:pPr algn="l">
              <a:lnSpc>
                <a:spcPct val="102000"/>
              </a:lnSpc>
            </a:pPr>
            <a:r>
              <a:rPr sz="1800" b="0">
                <a:solidFill>
                  <a:srgbClr val="1C2330"/>
                </a:solidFill>
                <a:latin typeface="Aptos"/>
              </a:rPr>
              <a:t>The clearest pattern is at the Democratic end. The bluest enacted district is very blue, which fits the Boston-area packing story.</a:t>
            </a:r>
          </a:p>
        </p:txBody>
      </p:sp>
      <p:sp>
        <p:nvSpPr>
          <p:cNvPr id="10" name="TextBox 9"/>
          <p:cNvSpPr txBox="1"/>
          <p:nvPr/>
        </p:nvSpPr>
        <p:spPr>
          <a:xfrm>
            <a:off x="7406640" y="5166360"/>
            <a:ext cx="4160520" cy="411480"/>
          </a:xfrm>
          <a:prstGeom prst="rect">
            <a:avLst/>
          </a:prstGeom>
          <a:noFill/>
        </p:spPr>
        <p:txBody>
          <a:bodyPr wrap="square" anchor="t" lIns="18288" rIns="18288" tIns="9144" bIns="9144">
            <a:noAutofit/>
          </a:bodyPr>
          <a:lstStyle/>
          <a:p>
            <a:pPr algn="l">
              <a:lnSpc>
                <a:spcPct val="102000"/>
              </a:lnSpc>
            </a:pPr>
            <a:r>
              <a:rPr sz="1700" b="1">
                <a:solidFill>
                  <a:srgbClr val="BE2337"/>
                </a:solidFill>
                <a:latin typeface="Aptos"/>
              </a:rPr>
              <a:t>Senate outliers mostly reflect rank changes after small geographic swaps.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274320"/>
            <a:ext cx="5486400" cy="219456"/>
          </a:xfrm>
          <a:prstGeom prst="rect">
            <a:avLst/>
          </a:prstGeom>
          <a:noFill/>
          <a:ln/>
        </p:spPr>
        <p:txBody>
          <a:bodyPr wrap="square" lIns="0" tIns="0" rIns="0" bIns="0" rtlCol="0" anchor="ctr"/>
          <a:lstStyle/>
          <a:p>
            <a:pPr indent="0" marL="0">
              <a:buNone/>
            </a:pPr>
            <a:r>
              <a:rPr lang="en-US" sz="880" b="1" dirty="0">
                <a:solidFill>
                  <a:srgbClr val="1D6FB8"/>
                </a:solidFill>
              </a:rPr>
              <a:t>INTERPRETING THE DOTS</a:t>
            </a:r>
            <a:endParaRPr lang="en-US" sz="880" dirty="0"/>
          </a:p>
        </p:txBody>
      </p:sp>
      <p:sp>
        <p:nvSpPr>
          <p:cNvPr id="3" name="Text 1"/>
          <p:cNvSpPr/>
          <p:nvPr/>
        </p:nvSpPr>
        <p:spPr>
          <a:xfrm>
            <a:off x="594360" y="512064"/>
            <a:ext cx="10972800" cy="438912"/>
          </a:xfrm>
          <a:prstGeom prst="rect">
            <a:avLst/>
          </a:prstGeom>
          <a:noFill/>
          <a:ln/>
        </p:spPr>
        <p:txBody>
          <a:bodyPr wrap="square" lIns="0" tIns="0" rIns="0" bIns="0" rtlCol="0" anchor="ctr">
            <a:normAutofit/>
          </a:bodyPr>
          <a:lstStyle/>
          <a:p>
            <a:pPr indent="0" marL="0">
              <a:buNone/>
            </a:pPr>
            <a:r>
              <a:rPr lang="en-US" sz="2800" b="1" dirty="0">
                <a:solidFill>
                  <a:srgbClr val="163B66"/>
                </a:solidFill>
              </a:rPr>
              <a:t>Why the Senate box plot has many outliers</a:t>
            </a:r>
            <a:endParaRPr lang="en-US" sz="2800" dirty="0"/>
          </a:p>
        </p:txBody>
      </p:sp>
      <p:sp>
        <p:nvSpPr>
          <p:cNvPr id="4" name="Shape 2"/>
          <p:cNvSpPr/>
          <p:nvPr/>
        </p:nvSpPr>
        <p:spPr>
          <a:xfrm>
            <a:off x="594360" y="1005840"/>
            <a:ext cx="10972800" cy="0"/>
          </a:xfrm>
          <a:prstGeom prst="line">
            <a:avLst/>
          </a:prstGeom>
          <a:noFill/>
          <a:ln w="12700">
            <a:solidFill>
              <a:srgbClr val="CBD5E1"/>
            </a:solidFill>
            <a:prstDash val="solid"/>
          </a:ln>
        </p:spPr>
      </p:sp>
      <p:sp>
        <p:nvSpPr>
          <p:cNvPr id="5" name="Text 3"/>
          <p:cNvSpPr/>
          <p:nvPr/>
        </p:nvSpPr>
        <p:spPr>
          <a:xfrm>
            <a:off x="731520" y="1234440"/>
            <a:ext cx="10652760" cy="594360"/>
          </a:xfrm>
          <a:prstGeom prst="rect">
            <a:avLst/>
          </a:prstGeom>
          <a:noFill/>
          <a:ln/>
        </p:spPr>
        <p:txBody>
          <a:bodyPr wrap="square" lIns="381" tIns="381" rIns="381" bIns="381" rtlCol="0" anchor="t">
            <a:normAutofit/>
          </a:bodyPr>
          <a:lstStyle/>
          <a:p>
            <a:pPr indent="0" marL="0">
              <a:lnSpc>
                <a:spcPct val="108000"/>
              </a:lnSpc>
              <a:buNone/>
            </a:pPr>
            <a:r>
              <a:rPr lang="en-US" sz="2100" dirty="0">
                <a:solidFill>
                  <a:srgbClr val="111827"/>
                </a:solidFill>
              </a:rPr>
              <a:t>The black circles are not data errors. In a standard box plot, they are plans outside the whiskers, usually beyond 1.5× the interquartile range.</a:t>
            </a:r>
            <a:endParaRPr lang="en-US" sz="2100" dirty="0"/>
          </a:p>
        </p:txBody>
      </p:sp>
      <p:sp>
        <p:nvSpPr>
          <p:cNvPr id="6" name="Text 4"/>
          <p:cNvSpPr/>
          <p:nvPr/>
        </p:nvSpPr>
        <p:spPr>
          <a:xfrm>
            <a:off x="960120" y="2103120"/>
            <a:ext cx="10287000" cy="1965960"/>
          </a:xfrm>
          <a:prstGeom prst="rect">
            <a:avLst/>
          </a:prstGeom>
          <a:noFill/>
          <a:ln/>
        </p:spPr>
        <p:txBody>
          <a:bodyPr wrap="square" lIns="635" tIns="635" rIns="635" bIns="635" rtlCol="0" anchor="ctr">
            <a:normAutofit/>
          </a:bodyPr>
          <a:lstStyle/>
          <a:p>
            <a:pPr indent="0" marL="0">
              <a:lnSpc>
                <a:spcPct val="108000"/>
              </a:lnSpc>
              <a:buNone/>
            </a:pPr>
            <a:r>
              <a:rPr lang="en-US" sz="1900" dirty="0">
                <a:solidFill>
                  <a:srgbClr val="111827"/>
                </a:solidFill>
              </a:rPr>
              <a:t>• The Senate race has more local variation than the presidential race in several areas, especially the South Coast, Cape, and outer suburbs.</a:t>
            </a:r>
            <a:endParaRPr lang="en-US" sz="1900" dirty="0"/>
          </a:p>
          <a:p>
            <a:pPr indent="0" marL="0">
              <a:lnSpc>
                <a:spcPct val="108000"/>
              </a:lnSpc>
              <a:buNone/>
            </a:pPr>
            <a:r>
              <a:rPr lang="en-US" sz="1900" dirty="0">
                <a:solidFill>
                  <a:srgbClr val="111827"/>
                </a:solidFill>
              </a:rPr>
              <a:t>• Because each plan is sorted by rank, one small geographic change can move a district into a different rank and appear as an outlier.</a:t>
            </a:r>
            <a:endParaRPr lang="en-US" sz="1900" dirty="0"/>
          </a:p>
          <a:p>
            <a:pPr indent="0" marL="0">
              <a:lnSpc>
                <a:spcPct val="108000"/>
              </a:lnSpc>
              <a:buNone/>
            </a:pPr>
            <a:r>
              <a:rPr lang="en-US" sz="1900" dirty="0">
                <a:solidFill>
                  <a:srgbClr val="111827"/>
                </a:solidFill>
              </a:rPr>
              <a:t>• Rare ReCom plans either isolate more Republican-leaning areas or connect more Boston-area Democratic voters into one ranked district.</a:t>
            </a:r>
            <a:endParaRPr lang="en-US" sz="1900" dirty="0"/>
          </a:p>
          <a:p>
            <a:pPr indent="0" marL="0">
              <a:lnSpc>
                <a:spcPct val="108000"/>
              </a:lnSpc>
              <a:buNone/>
            </a:pPr>
            <a:r>
              <a:rPr lang="en-US" sz="1900" dirty="0">
                <a:solidFill>
                  <a:srgbClr val="111827"/>
                </a:solidFill>
              </a:rPr>
              <a:t>• So the outliers show real Massachusetts geography and ranking effects, not a failed ensemble.</a:t>
            </a:r>
            <a:endParaRPr lang="en-US" sz="1900" dirty="0"/>
          </a:p>
        </p:txBody>
      </p:sp>
      <p:sp>
        <p:nvSpPr>
          <p:cNvPr id="7" name="Text 5"/>
          <p:cNvSpPr/>
          <p:nvPr/>
        </p:nvSpPr>
        <p:spPr>
          <a:xfrm>
            <a:off x="960120" y="4983480"/>
            <a:ext cx="10149840" cy="594360"/>
          </a:xfrm>
          <a:prstGeom prst="rect">
            <a:avLst/>
          </a:prstGeom>
          <a:noFill/>
          <a:ln/>
        </p:spPr>
        <p:txBody>
          <a:bodyPr wrap="square" lIns="381" tIns="381" rIns="381" bIns="381" rtlCol="0" anchor="t">
            <a:normAutofit/>
          </a:bodyPr>
          <a:lstStyle/>
          <a:p>
            <a:pPr indent="0" marL="0">
              <a:lnSpc>
                <a:spcPct val="108000"/>
              </a:lnSpc>
              <a:buNone/>
            </a:pPr>
            <a:r>
              <a:rPr lang="en-US" sz="1900" b="1" dirty="0">
                <a:solidFill>
                  <a:srgbClr val="B51F36"/>
                </a:solidFill>
              </a:rPr>
              <a:t>Concrete example: in the enacted map, District 9 is only about 51.2% Warren two-party vote, while District 7 is about 82.3%. That huge spread gives the Senate ranked distributions longer tails.</a:t>
            </a:r>
            <a:endParaRPr lang="en-US" sz="1900" dirty="0"/>
          </a:p>
        </p:txBody>
      </p:sp>
      <p:sp>
        <p:nvSpPr>
          <p:cNvPr id="8" name="Text 6"/>
          <p:cNvSpPr/>
          <p:nvPr/>
        </p:nvSpPr>
        <p:spPr>
          <a:xfrm>
            <a:off x="594360" y="6565392"/>
            <a:ext cx="10789920" cy="164592"/>
          </a:xfrm>
          <a:prstGeom prst="rect">
            <a:avLst/>
          </a:prstGeom>
          <a:noFill/>
          <a:ln/>
        </p:spPr>
        <p:txBody>
          <a:bodyPr wrap="square" lIns="0" tIns="0" rIns="0" bIns="0" rtlCol="0" anchor="ctr">
            <a:normAutofit/>
          </a:bodyPr>
          <a:lstStyle/>
          <a:p>
            <a:pPr indent="0" marL="0">
              <a:buNone/>
            </a:pPr>
            <a:r>
              <a:rPr lang="en-US" sz="750" dirty="0">
                <a:solidFill>
                  <a:srgbClr val="6B7280"/>
                </a:solidFill>
              </a:rPr>
              <a:t>Sources: marginal_boxplots_40k.png; project precinct aggregation by congressional district.</a:t>
            </a:r>
            <a:endParaRPr lang="en-US" sz="750" dirty="0"/>
          </a:p>
        </p:txBody>
      </p:sp>
      <p:sp>
        <p:nvSpPr>
          <p:cNvPr id="25" name="Slide Number Placeholder 0"/>
          <p:cNvSpPr>
            <a:spLocks noGrp="1"/>
          </p:cNvSpPr>
          <p:nvPr>
            <p:ph type="sldNum" sz="quarter" idx="4294967295"/>
          </p:nvPr>
        </p:nvSpPr>
        <p:spPr>
          <a:xfrm>
            <a:off x="1138428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274320"/>
            <a:ext cx="5486400" cy="219456"/>
          </a:xfrm>
          <a:prstGeom prst="rect">
            <a:avLst/>
          </a:prstGeom>
          <a:noFill/>
          <a:ln/>
        </p:spPr>
        <p:txBody>
          <a:bodyPr wrap="square" lIns="0" tIns="0" rIns="0" bIns="0" rtlCol="0" anchor="ctr"/>
          <a:lstStyle/>
          <a:p>
            <a:pPr indent="0" marL="0">
              <a:buNone/>
            </a:pPr>
            <a:r>
              <a:rPr lang="en-US" sz="880" b="1" dirty="0">
                <a:solidFill>
                  <a:srgbClr val="1D6FB8"/>
                </a:solidFill>
              </a:rPr>
              <a:t>RESULTS</a:t>
            </a:r>
            <a:endParaRPr lang="en-US" sz="880" dirty="0"/>
          </a:p>
        </p:txBody>
      </p:sp>
      <p:sp>
        <p:nvSpPr>
          <p:cNvPr id="3" name="Text 1"/>
          <p:cNvSpPr/>
          <p:nvPr/>
        </p:nvSpPr>
        <p:spPr>
          <a:xfrm>
            <a:off x="594360" y="512064"/>
            <a:ext cx="10972800" cy="438912"/>
          </a:xfrm>
          <a:prstGeom prst="rect">
            <a:avLst/>
          </a:prstGeom>
          <a:noFill/>
          <a:ln/>
        </p:spPr>
        <p:txBody>
          <a:bodyPr wrap="square" lIns="0" tIns="0" rIns="0" bIns="0" rtlCol="0" anchor="ctr">
            <a:normAutofit/>
          </a:bodyPr>
          <a:lstStyle/>
          <a:p>
            <a:pPr indent="0" marL="0">
              <a:buNone/>
            </a:pPr>
            <a:r>
              <a:rPr lang="en-US" sz="2800" b="1" dirty="0">
                <a:solidFill>
                  <a:srgbClr val="163B66"/>
                </a:solidFill>
              </a:rPr>
              <a:t>Final interpretation</a:t>
            </a:r>
            <a:endParaRPr lang="en-US" sz="2800" dirty="0"/>
          </a:p>
        </p:txBody>
      </p:sp>
      <p:sp>
        <p:nvSpPr>
          <p:cNvPr id="4" name="Shape 2"/>
          <p:cNvSpPr/>
          <p:nvPr/>
        </p:nvSpPr>
        <p:spPr>
          <a:xfrm>
            <a:off x="594360" y="1005840"/>
            <a:ext cx="10972800" cy="0"/>
          </a:xfrm>
          <a:prstGeom prst="line">
            <a:avLst/>
          </a:prstGeom>
          <a:noFill/>
          <a:ln w="12700">
            <a:solidFill>
              <a:srgbClr val="CBD5E1"/>
            </a:solidFill>
            <a:prstDash val="solid"/>
          </a:ln>
        </p:spPr>
      </p:sp>
      <p:sp>
        <p:nvSpPr>
          <p:cNvPr id="5" name="Text 3"/>
          <p:cNvSpPr/>
          <p:nvPr/>
        </p:nvSpPr>
        <p:spPr>
          <a:xfrm>
            <a:off x="731520" y="1298448"/>
            <a:ext cx="10789920" cy="640080"/>
          </a:xfrm>
          <a:prstGeom prst="rect">
            <a:avLst/>
          </a:prstGeom>
          <a:noFill/>
          <a:ln/>
        </p:spPr>
        <p:txBody>
          <a:bodyPr wrap="square" lIns="381" tIns="381" rIns="381" bIns="381" rtlCol="0" anchor="t">
            <a:normAutofit/>
          </a:bodyPr>
          <a:lstStyle/>
          <a:p>
            <a:pPr indent="0" marL="0">
              <a:lnSpc>
                <a:spcPct val="108000"/>
              </a:lnSpc>
              <a:buNone/>
            </a:pPr>
            <a:r>
              <a:rPr lang="en-US" sz="2200" b="1" dirty="0">
                <a:solidFill>
                  <a:srgbClr val="163B66"/>
                </a:solidFill>
              </a:rPr>
              <a:t>Massachusetts is strongly Democratic, so Democratic-favoring results are expected. The stronger question is whether the enacted map is unusual compared with other possible Massachusetts maps.</a:t>
            </a:r>
            <a:endParaRPr lang="en-US" sz="2200" dirty="0"/>
          </a:p>
        </p:txBody>
      </p:sp>
      <p:sp>
        <p:nvSpPr>
          <p:cNvPr id="6" name="Text 4"/>
          <p:cNvSpPr/>
          <p:nvPr/>
        </p:nvSpPr>
        <p:spPr>
          <a:xfrm>
            <a:off x="960120" y="2331720"/>
            <a:ext cx="10378440" cy="2697480"/>
          </a:xfrm>
          <a:prstGeom prst="rect">
            <a:avLst/>
          </a:prstGeom>
          <a:noFill/>
          <a:ln/>
        </p:spPr>
        <p:txBody>
          <a:bodyPr wrap="square" lIns="635" tIns="635" rIns="635" bIns="635" rtlCol="0" anchor="ctr">
            <a:normAutofit/>
          </a:bodyPr>
          <a:lstStyle/>
          <a:p>
            <a:pPr indent="0" marL="0">
              <a:lnSpc>
                <a:spcPct val="108000"/>
              </a:lnSpc>
              <a:buNone/>
            </a:pPr>
            <a:r>
              <a:rPr lang="en-US" sz="1920" dirty="0">
                <a:solidFill>
                  <a:srgbClr val="111827"/>
                </a:solidFill>
              </a:rPr>
              <a:t>• The actual map wins all 9 seats for Democrats in both elections.</a:t>
            </a:r>
            <a:endParaRPr lang="en-US" sz="1920" dirty="0"/>
          </a:p>
          <a:p>
            <a:pPr indent="0" marL="0">
              <a:lnSpc>
                <a:spcPct val="108000"/>
              </a:lnSpc>
              <a:buNone/>
            </a:pPr>
            <a:r>
              <a:rPr lang="en-US" sz="1920" dirty="0">
                <a:solidFill>
                  <a:srgbClr val="111827"/>
                </a:solidFill>
              </a:rPr>
              <a:t>• Efficiency Gap is strongly negative in both races: −0.2409 for President and −0.3015 for Senate.</a:t>
            </a:r>
            <a:endParaRPr lang="en-US" sz="1920" dirty="0"/>
          </a:p>
          <a:p>
            <a:pPr indent="0" marL="0">
              <a:lnSpc>
                <a:spcPct val="108000"/>
              </a:lnSpc>
              <a:buNone/>
            </a:pPr>
            <a:r>
              <a:rPr lang="en-US" sz="1920" dirty="0">
                <a:solidFill>
                  <a:srgbClr val="111827"/>
                </a:solidFill>
              </a:rPr>
              <a:t>• The clearer outlier is boundary fragmentation: 659 cut edges versus a running-average center around 486.</a:t>
            </a:r>
            <a:endParaRPr lang="en-US" sz="1920" dirty="0"/>
          </a:p>
          <a:p>
            <a:pPr indent="0" marL="0">
              <a:lnSpc>
                <a:spcPct val="108000"/>
              </a:lnSpc>
              <a:buNone/>
            </a:pPr>
            <a:r>
              <a:rPr lang="en-US" sz="1920" dirty="0">
                <a:solidFill>
                  <a:srgbClr val="111827"/>
                </a:solidFill>
              </a:rPr>
              <a:t>• District 7 is the only majority-minority district and also the bluest seat, making Boston-area packing central to the story.</a:t>
            </a:r>
            <a:endParaRPr lang="en-US" sz="1920" dirty="0"/>
          </a:p>
          <a:p>
            <a:pPr indent="0" marL="0">
              <a:lnSpc>
                <a:spcPct val="108000"/>
              </a:lnSpc>
              <a:buNone/>
            </a:pPr>
            <a:r>
              <a:rPr lang="en-US" sz="1920" dirty="0">
                <a:solidFill>
                  <a:srgbClr val="111827"/>
                </a:solidFill>
              </a:rPr>
              <a:t>• The best conclusion is not “Massachusetts is secretly competitive.” It is: a naturally Democratic state has a map that still shows unusually fragmented boundaries and very concentrated Democratic strength in its bluest district.</a:t>
            </a:r>
            <a:endParaRPr lang="en-US" sz="1920" dirty="0"/>
          </a:p>
        </p:txBody>
      </p:sp>
      <p:sp>
        <p:nvSpPr>
          <p:cNvPr id="7" name="Text 5"/>
          <p:cNvSpPr/>
          <p:nvPr/>
        </p:nvSpPr>
        <p:spPr>
          <a:xfrm>
            <a:off x="960120" y="5623560"/>
            <a:ext cx="10195560" cy="457200"/>
          </a:xfrm>
          <a:prstGeom prst="rect">
            <a:avLst/>
          </a:prstGeom>
          <a:noFill/>
          <a:ln/>
        </p:spPr>
        <p:txBody>
          <a:bodyPr wrap="square" lIns="381" tIns="381" rIns="381" bIns="381" rtlCol="0" anchor="t">
            <a:normAutofit/>
          </a:bodyPr>
          <a:lstStyle/>
          <a:p>
            <a:pPr indent="0" marL="0">
              <a:lnSpc>
                <a:spcPct val="108000"/>
              </a:lnSpc>
              <a:buNone/>
            </a:pPr>
            <a:r>
              <a:rPr lang="en-US" sz="1900" b="1" dirty="0">
                <a:solidFill>
                  <a:srgbClr val="B51F36"/>
                </a:solidFill>
              </a:rPr>
              <a:t>Presentation takeaway: the unique MA dilemma is separating real Democratic geography and minority representation from extra partisan advantage.</a:t>
            </a:r>
            <a:endParaRPr lang="en-US" sz="1900" dirty="0"/>
          </a:p>
        </p:txBody>
      </p:sp>
      <p:sp>
        <p:nvSpPr>
          <p:cNvPr id="8" name="Text 6"/>
          <p:cNvSpPr/>
          <p:nvPr/>
        </p:nvSpPr>
        <p:spPr>
          <a:xfrm>
            <a:off x="594360" y="6565392"/>
            <a:ext cx="10789920" cy="164592"/>
          </a:xfrm>
          <a:prstGeom prst="rect">
            <a:avLst/>
          </a:prstGeom>
          <a:noFill/>
          <a:ln/>
        </p:spPr>
        <p:txBody>
          <a:bodyPr wrap="square" lIns="0" tIns="0" rIns="0" bIns="0" rtlCol="0" anchor="ctr">
            <a:normAutofit/>
          </a:bodyPr>
          <a:lstStyle/>
          <a:p>
            <a:pPr indent="0" marL="0">
              <a:buNone/>
            </a:pPr>
            <a:r>
              <a:rPr lang="en-US" sz="750" dirty="0">
                <a:solidFill>
                  <a:srgbClr val="6B7280"/>
                </a:solidFill>
              </a:rPr>
              <a:t>Sources: project notebooks and outputs.</a:t>
            </a:r>
            <a:endParaRPr lang="en-US" sz="750" dirty="0"/>
          </a:p>
        </p:txBody>
      </p:sp>
      <p:sp>
        <p:nvSpPr>
          <p:cNvPr id="25" name="Slide Number Placeholder 0"/>
          <p:cNvSpPr>
            <a:spLocks noGrp="1"/>
          </p:cNvSpPr>
          <p:nvPr>
            <p:ph type="sldNum" sz="quarter" idx="4294967295"/>
          </p:nvPr>
        </p:nvSpPr>
        <p:spPr>
          <a:xfrm>
            <a:off x="1138428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274320"/>
            <a:ext cx="5486400" cy="219456"/>
          </a:xfrm>
          <a:prstGeom prst="rect">
            <a:avLst/>
          </a:prstGeom>
          <a:noFill/>
          <a:ln/>
        </p:spPr>
        <p:txBody>
          <a:bodyPr wrap="square" lIns="0" tIns="0" rIns="0" bIns="0" rtlCol="0" anchor="ctr"/>
          <a:lstStyle/>
          <a:p>
            <a:pPr indent="0" marL="0">
              <a:buNone/>
            </a:pPr>
            <a:r>
              <a:rPr lang="en-US" sz="880" b="1" dirty="0">
                <a:solidFill>
                  <a:srgbClr val="1D6FB8"/>
                </a:solidFill>
              </a:rPr>
              <a:t>REFERENCES</a:t>
            </a:r>
            <a:endParaRPr lang="en-US" sz="880" dirty="0"/>
          </a:p>
        </p:txBody>
      </p:sp>
      <p:sp>
        <p:nvSpPr>
          <p:cNvPr id="3" name="Text 1"/>
          <p:cNvSpPr/>
          <p:nvPr/>
        </p:nvSpPr>
        <p:spPr>
          <a:xfrm>
            <a:off x="594360" y="512064"/>
            <a:ext cx="10972800" cy="438912"/>
          </a:xfrm>
          <a:prstGeom prst="rect">
            <a:avLst/>
          </a:prstGeom>
          <a:noFill/>
          <a:ln/>
        </p:spPr>
        <p:txBody>
          <a:bodyPr wrap="square" lIns="0" tIns="0" rIns="0" bIns="0" rtlCol="0" anchor="ctr">
            <a:normAutofit/>
          </a:bodyPr>
          <a:lstStyle/>
          <a:p>
            <a:pPr indent="0" marL="0">
              <a:buNone/>
            </a:pPr>
            <a:r>
              <a:rPr lang="en-US" sz="2800" b="1" dirty="0">
                <a:solidFill>
                  <a:srgbClr val="163B66"/>
                </a:solidFill>
              </a:rPr>
              <a:t>Sources and project files</a:t>
            </a:r>
            <a:endParaRPr lang="en-US" sz="2800" dirty="0"/>
          </a:p>
        </p:txBody>
      </p:sp>
      <p:sp>
        <p:nvSpPr>
          <p:cNvPr id="4" name="Shape 2"/>
          <p:cNvSpPr/>
          <p:nvPr/>
        </p:nvSpPr>
        <p:spPr>
          <a:xfrm>
            <a:off x="594360" y="1005840"/>
            <a:ext cx="10972800" cy="0"/>
          </a:xfrm>
          <a:prstGeom prst="line">
            <a:avLst/>
          </a:prstGeom>
          <a:noFill/>
          <a:ln w="12700">
            <a:solidFill>
              <a:srgbClr val="CBD5E1"/>
            </a:solidFill>
            <a:prstDash val="solid"/>
          </a:ln>
        </p:spPr>
      </p:sp>
      <p:sp>
        <p:nvSpPr>
          <p:cNvPr id="5" name="Text 3"/>
          <p:cNvSpPr/>
          <p:nvPr/>
        </p:nvSpPr>
        <p:spPr>
          <a:xfrm>
            <a:off x="868680" y="1417320"/>
            <a:ext cx="10469880" cy="2926080"/>
          </a:xfrm>
          <a:prstGeom prst="rect">
            <a:avLst/>
          </a:prstGeom>
          <a:noFill/>
          <a:ln/>
        </p:spPr>
        <p:txBody>
          <a:bodyPr wrap="square" lIns="635" tIns="635" rIns="635" bIns="635" rtlCol="0" anchor="ctr">
            <a:normAutofit/>
          </a:bodyPr>
          <a:lstStyle/>
          <a:p>
            <a:pPr indent="0" marL="0">
              <a:lnSpc>
                <a:spcPct val="108000"/>
              </a:lnSpc>
              <a:buNone/>
            </a:pPr>
            <a:r>
              <a:rPr lang="en-US" sz="2100" dirty="0">
                <a:solidFill>
                  <a:srgbClr val="111827"/>
                </a:solidFill>
              </a:rPr>
              <a:t>• Project notebooks: cleaning.ipynb and analysis.ipynb; generated images from the 40k ReCom analysis.</a:t>
            </a:r>
            <a:endParaRPr lang="en-US" sz="2100" dirty="0"/>
          </a:p>
          <a:p>
            <a:pPr indent="0" marL="0">
              <a:lnSpc>
                <a:spcPct val="108000"/>
              </a:lnSpc>
              <a:buNone/>
            </a:pPr>
            <a:r>
              <a:rPr lang="en-US" sz="2100" dirty="0">
                <a:solidFill>
                  <a:srgbClr val="111827"/>
                </a:solidFill>
              </a:rPr>
              <a:t>• Massachusetts Legislature Redistricting pages and 2021 Congressional Mapbook for map process and district demographics.</a:t>
            </a:r>
            <a:endParaRPr lang="en-US" sz="2100" dirty="0"/>
          </a:p>
          <a:p>
            <a:pPr indent="0" marL="0">
              <a:lnSpc>
                <a:spcPct val="108000"/>
              </a:lnSpc>
              <a:buNone/>
            </a:pPr>
            <a:r>
              <a:rPr lang="en-US" sz="2100" dirty="0">
                <a:solidFill>
                  <a:srgbClr val="111827"/>
                </a:solidFill>
              </a:rPr>
              <a:t>• MA ElectionStats / PD43 for official 2024 presidential and U.S. Senate election results.</a:t>
            </a:r>
            <a:endParaRPr lang="en-US" sz="2100" dirty="0"/>
          </a:p>
          <a:p>
            <a:pPr indent="0" marL="0">
              <a:lnSpc>
                <a:spcPct val="108000"/>
              </a:lnSpc>
              <a:buNone/>
            </a:pPr>
            <a:r>
              <a:rPr lang="en-US" sz="2100" dirty="0">
                <a:solidFill>
                  <a:srgbClr val="111827"/>
                </a:solidFill>
              </a:rPr>
              <a:t>• Princeton Gerrymandering Project and All About Redistricting for Massachusetts process summaries.</a:t>
            </a:r>
            <a:endParaRPr lang="en-US" sz="2100" dirty="0"/>
          </a:p>
          <a:p>
            <a:pPr indent="0" marL="0">
              <a:lnSpc>
                <a:spcPct val="108000"/>
              </a:lnSpc>
              <a:buNone/>
            </a:pPr>
            <a:r>
              <a:rPr lang="en-US" sz="2100" dirty="0">
                <a:solidFill>
                  <a:srgbClr val="111827"/>
                </a:solidFill>
              </a:rPr>
              <a:t>• Census Reporter / U.S. Census resources for congressional district context.</a:t>
            </a:r>
            <a:endParaRPr lang="en-US" sz="2100" dirty="0"/>
          </a:p>
        </p:txBody>
      </p:sp>
      <p:sp>
        <p:nvSpPr>
          <p:cNvPr id="6" name="Text 4"/>
          <p:cNvSpPr/>
          <p:nvPr/>
        </p:nvSpPr>
        <p:spPr>
          <a:xfrm>
            <a:off x="868680" y="4892040"/>
            <a:ext cx="10332720" cy="685800"/>
          </a:xfrm>
          <a:prstGeom prst="rect">
            <a:avLst/>
          </a:prstGeom>
          <a:noFill/>
          <a:ln/>
        </p:spPr>
        <p:txBody>
          <a:bodyPr wrap="square" lIns="381" tIns="381" rIns="381" bIns="381" rtlCol="0" anchor="t">
            <a:normAutofit/>
          </a:bodyPr>
          <a:lstStyle/>
          <a:p>
            <a:pPr indent="0" marL="0">
              <a:lnSpc>
                <a:spcPct val="108000"/>
              </a:lnSpc>
              <a:buNone/>
            </a:pPr>
            <a:r>
              <a:rPr lang="en-US" sz="1800" dirty="0">
                <a:solidFill>
                  <a:srgbClr val="4B5563"/>
                </a:solidFill>
              </a:rPr>
              <a:t>Key file outputs used in slides: ma_districts_map.png, histograms_40k.png, marginal_boxplots_40k.png, convergence_20k_vs_40k.png, convergence_running_average.png.</a:t>
            </a:r>
            <a:endParaRPr lang="en-US" sz="1800" dirty="0"/>
          </a:p>
        </p:txBody>
      </p:sp>
      <p:sp>
        <p:nvSpPr>
          <p:cNvPr id="7" name="Text 5"/>
          <p:cNvSpPr/>
          <p:nvPr/>
        </p:nvSpPr>
        <p:spPr>
          <a:xfrm>
            <a:off x="594360" y="6565392"/>
            <a:ext cx="10789920" cy="164592"/>
          </a:xfrm>
          <a:prstGeom prst="rect">
            <a:avLst/>
          </a:prstGeom>
          <a:noFill/>
          <a:ln/>
        </p:spPr>
        <p:txBody>
          <a:bodyPr wrap="square" lIns="0" tIns="0" rIns="0" bIns="0" rtlCol="0" anchor="ctr">
            <a:normAutofit/>
          </a:bodyPr>
          <a:lstStyle/>
          <a:p>
            <a:pPr indent="0" marL="0">
              <a:buNone/>
            </a:pPr>
            <a:r>
              <a:rPr lang="en-US" sz="750" dirty="0">
                <a:solidFill>
                  <a:srgbClr val="6B7280"/>
                </a:solidFill>
              </a:rPr>
              <a:t>Prepared for CS 464 — AI for Redistricting.</a:t>
            </a:r>
            <a:endParaRPr lang="en-US" sz="750" dirty="0"/>
          </a:p>
        </p:txBody>
      </p:sp>
      <p:sp>
        <p:nvSpPr>
          <p:cNvPr id="25" name="Slide Number Placeholder 0"/>
          <p:cNvSpPr>
            <a:spLocks noGrp="1"/>
          </p:cNvSpPr>
          <p:nvPr>
            <p:ph type="sldNum" sz="quarter" idx="4294967295"/>
          </p:nvPr>
        </p:nvSpPr>
        <p:spPr>
          <a:xfrm>
            <a:off x="11384280" y="649224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University of San Francisco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Gerrymandering Analysis of Massachusetts Congressional Districts</dc:title>
  <dc:subject>AI for Redistricting — Massachusetts Congressional Districts</dc:subject>
  <dc:creator>CS 464 Project Group</dc:creator>
  <cp:lastModifiedBy>CS 464 Project Group</cp:lastModifiedBy>
  <cp:revision>1</cp:revision>
  <dcterms:created xsi:type="dcterms:W3CDTF">2026-05-14T19:01:14Z</dcterms:created>
  <dcterms:modified xsi:type="dcterms:W3CDTF">2026-05-14T19:01:14Z</dcterms:modified>
</cp:coreProperties>
</file>